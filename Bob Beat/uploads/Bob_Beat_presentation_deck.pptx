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51b9f964ca48ef" /><Relationship Type="http://schemas.openxmlformats.org/officeDocument/2006/relationships/extended-properties" Target="/docProps/app.xml" Id="R38388fc4240a416b" /><Relationship Type="http://schemas.openxmlformats.org/officeDocument/2006/relationships/officeDocument" Target="/ppt/presentation.xml" Id="R7797b1591cfb4ac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19dfe7d437c4355"/>
  </p:sldMasterIdLst>
  <p:notesMasterIdLst>
    <p:notesMasterId xmlns:r="http://schemas.openxmlformats.org/officeDocument/2006/relationships" r:id="R40f04c23d0fe4ab3"/>
  </p:notesMasterIdLst>
  <p:sldIdLst>
    <p:sldId xmlns:r="http://schemas.openxmlformats.org/officeDocument/2006/relationships" id="256" r:id="R5cc29b4f88f94c1b"/>
    <p:sldId xmlns:r="http://schemas.openxmlformats.org/officeDocument/2006/relationships" id="257" r:id="R3e3e28c492bb4076"/>
    <p:sldId xmlns:r="http://schemas.openxmlformats.org/officeDocument/2006/relationships" id="258" r:id="R7a65249bf75a45e6"/>
    <p:sldId xmlns:r="http://schemas.openxmlformats.org/officeDocument/2006/relationships" id="259" r:id="R02fb7a5727e74a79"/>
    <p:sldId xmlns:r="http://schemas.openxmlformats.org/officeDocument/2006/relationships" id="260" r:id="R6bb1fbb126d04893"/>
    <p:sldId xmlns:r="http://schemas.openxmlformats.org/officeDocument/2006/relationships" id="261" r:id="Racac8c9974ea48bf"/>
    <p:sldId xmlns:r="http://schemas.openxmlformats.org/officeDocument/2006/relationships" id="262" r:id="Re8c89dac0745408a"/>
    <p:sldId xmlns:r="http://schemas.openxmlformats.org/officeDocument/2006/relationships" id="263" r:id="Rf6126aefbcd340a7"/>
    <p:sldId xmlns:r="http://schemas.openxmlformats.org/officeDocument/2006/relationships" id="264" r:id="R4e0727877fd840c0"/>
    <p:sldId xmlns:r="http://schemas.openxmlformats.org/officeDocument/2006/relationships" id="265" r:id="R3ea8dae3b68a446b"/>
  </p:sldIdLst>
  <p:sldSz cx="18288000" cy="10287000"/>
  <p:notesSz cx="6858000" cy="9144000"/>
  <p:embeddedFontLst>
    <p:embeddedFont>
      <p:font typeface="IBM Plex Sans"/>
      <p:regular xmlns:r="http://schemas.openxmlformats.org/officeDocument/2006/relationships" r:id="Rdf5cbe27325c445b"/>
      <p:bold xmlns:r="http://schemas.openxmlformats.org/officeDocument/2006/relationships" r:id="R7a76efb009734426"/>
      <p:italic xmlns:r="http://schemas.openxmlformats.org/officeDocument/2006/relationships" r:id="R4b4b759682824a46"/>
      <p:boldItalic xmlns:r="http://schemas.openxmlformats.org/officeDocument/2006/relationships" r:id="Rbcaf20ee650246e2"/>
    </p:embeddedFont>
    <p:embeddedFont>
      <p:font typeface="Sora"/>
      <p:regular xmlns:r="http://schemas.openxmlformats.org/officeDocument/2006/relationships" r:id="Ra2944fb785134316"/>
      <p:bold xmlns:r="http://schemas.openxmlformats.org/officeDocument/2006/relationships" r:id="R748734c4599a4148"/>
    </p:embeddedFont>
    <p:embeddedFont>
      <p:font typeface="IBM Plex Mono"/>
      <p:regular xmlns:r="http://schemas.openxmlformats.org/officeDocument/2006/relationships" r:id="R62109cfcf1d74cd1"/>
      <p:bold xmlns:r="http://schemas.openxmlformats.org/officeDocument/2006/relationships" r:id="R77ffa4805ac34f39"/>
      <p:italic xmlns:r="http://schemas.openxmlformats.org/officeDocument/2006/relationships" r:id="R16ec6954a6804bbd"/>
      <p:boldItalic xmlns:r="http://schemas.openxmlformats.org/officeDocument/2006/relationships" r:id="Rc6492222150646c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c4c297d124791" /><Relationship Type="http://schemas.openxmlformats.org/officeDocument/2006/relationships/slideMaster" Target="/ppt/slideMasters/slideMaster1.xml" Id="Ra19dfe7d437c4355" /><Relationship Type="http://schemas.openxmlformats.org/officeDocument/2006/relationships/notesMaster" Target="/ppt/notesMasters/notesMaster1.xml" Id="R40f04c23d0fe4ab3" /><Relationship Type="http://schemas.openxmlformats.org/officeDocument/2006/relationships/presProps" Target="/ppt/presProps.xml" Id="R6d8a62301c534072" /><Relationship Type="http://schemas.openxmlformats.org/officeDocument/2006/relationships/tableStyles" Target="/ppt/tableStyles.xml" Id="Rf80d7b3db78a4aff" /><Relationship Type="http://schemas.openxmlformats.org/officeDocument/2006/relationships/font" Target="/ppt/fonts/font.dat" Id="Rdf5cbe27325c445b" /><Relationship Type="http://schemas.openxmlformats.org/officeDocument/2006/relationships/font" Target="/ppt/fonts/font2.dat" Id="R7a76efb009734426" /><Relationship Type="http://schemas.openxmlformats.org/officeDocument/2006/relationships/font" Target="/ppt/fonts/font3.dat" Id="R4b4b759682824a46" /><Relationship Type="http://schemas.openxmlformats.org/officeDocument/2006/relationships/font" Target="/ppt/fonts/font4.dat" Id="Rbcaf20ee650246e2" /><Relationship Type="http://schemas.openxmlformats.org/officeDocument/2006/relationships/font" Target="/ppt/fonts/font5.dat" Id="Ra2944fb785134316" /><Relationship Type="http://schemas.openxmlformats.org/officeDocument/2006/relationships/font" Target="/ppt/fonts/font6.dat" Id="R748734c4599a4148" /><Relationship Type="http://schemas.openxmlformats.org/officeDocument/2006/relationships/font" Target="/ppt/fonts/font7.dat" Id="R62109cfcf1d74cd1" /><Relationship Type="http://schemas.openxmlformats.org/officeDocument/2006/relationships/font" Target="/ppt/fonts/font8.dat" Id="R77ffa4805ac34f39" /><Relationship Type="http://schemas.openxmlformats.org/officeDocument/2006/relationships/font" Target="/ppt/fonts/font9.dat" Id="R16ec6954a6804bbd" /><Relationship Type="http://schemas.openxmlformats.org/officeDocument/2006/relationships/font" Target="/ppt/fonts/font10.dat" Id="Rc6492222150646ce" /><Relationship Type="http://schemas.openxmlformats.org/officeDocument/2006/relationships/slide" Target="/ppt/slides/slide1.xml" Id="R5cc29b4f88f94c1b" /><Relationship Type="http://schemas.openxmlformats.org/officeDocument/2006/relationships/slide" Target="/ppt/slides/slide2.xml" Id="R3e3e28c492bb4076" /><Relationship Type="http://schemas.openxmlformats.org/officeDocument/2006/relationships/slide" Target="/ppt/slides/slide3.xml" Id="R7a65249bf75a45e6" /><Relationship Type="http://schemas.openxmlformats.org/officeDocument/2006/relationships/slide" Target="/ppt/slides/slide4.xml" Id="R02fb7a5727e74a79" /><Relationship Type="http://schemas.openxmlformats.org/officeDocument/2006/relationships/slide" Target="/ppt/slides/slide5.xml" Id="R6bb1fbb126d04893" /><Relationship Type="http://schemas.openxmlformats.org/officeDocument/2006/relationships/slide" Target="/ppt/slides/slide6.xml" Id="Racac8c9974ea48bf" /><Relationship Type="http://schemas.openxmlformats.org/officeDocument/2006/relationships/slide" Target="/ppt/slides/slide7.xml" Id="Re8c89dac0745408a" /><Relationship Type="http://schemas.openxmlformats.org/officeDocument/2006/relationships/slide" Target="/ppt/slides/slide8.xml" Id="Rf6126aefbcd340a7" /><Relationship Type="http://schemas.openxmlformats.org/officeDocument/2006/relationships/slide" Target="/ppt/slides/slide9.xml" Id="R4e0727877fd840c0" /><Relationship Type="http://schemas.openxmlformats.org/officeDocument/2006/relationships/slide" Target="/ppt/slides/slide10.xml" Id="R3ea8dae3b68a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5540590a143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39d065ee84b77" /><Relationship Type="http://schemas.openxmlformats.org/officeDocument/2006/relationships/notesMaster" Target="/ppt/notesMasters/notesMaster1.xml" Id="R44a55d7879e3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0b7dc796e4b45" /><Relationship Type="http://schemas.openxmlformats.org/officeDocument/2006/relationships/notesMaster" Target="/ppt/notesMasters/notesMaster1.xml" Id="Reea06c8faf46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42f93ac664b92" /><Relationship Type="http://schemas.openxmlformats.org/officeDocument/2006/relationships/notesMaster" Target="/ppt/notesMasters/notesMaster1.xml" Id="R218a4651cd5248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a63b3f5914a8f" /><Relationship Type="http://schemas.openxmlformats.org/officeDocument/2006/relationships/notesMaster" Target="/ppt/notesMasters/notesMaster1.xml" Id="R2fa3a7ab4576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1aaee4b184f3b" /><Relationship Type="http://schemas.openxmlformats.org/officeDocument/2006/relationships/notesMaster" Target="/ppt/notesMasters/notesMaster1.xml" Id="Rab77d8ce5cf740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36b2f91a044ca" /><Relationship Type="http://schemas.openxmlformats.org/officeDocument/2006/relationships/notesMaster" Target="/ppt/notesMasters/notesMaster1.xml" Id="Rc05bcaad3a55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19580cc55414f" /><Relationship Type="http://schemas.openxmlformats.org/officeDocument/2006/relationships/notesMaster" Target="/ppt/notesMasters/notesMaster1.xml" Id="Rb668471d8af540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3ce4987e74b01" /><Relationship Type="http://schemas.openxmlformats.org/officeDocument/2006/relationships/notesMaster" Target="/ppt/notesMasters/notesMaster1.xml" Id="Rab802a07eaa1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e20b75f4b24969" /><Relationship Type="http://schemas.openxmlformats.org/officeDocument/2006/relationships/notesMaster" Target="/ppt/notesMasters/notesMaster1.xml" Id="R7cf610dce7934e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a20084a81a48ed" /><Relationship Type="http://schemas.openxmlformats.org/officeDocument/2006/relationships/notesMaster" Target="/ppt/notesMasters/notesMaster1.xml" Id="R076ea7aea841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Gallup, Why the Onboarding Experience Is Key for Retention: https://www.gallup.com/workplace/235121/why-onboarding-experience-key-retention.aspx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Gallup, 8 Practical Tips for Leaders for a Better Onboarding Process: https://www.gallup.com/workplace/353096/practical-tips-leaders-better-onboarding-process.aspx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ERE / Dr. John Sullivan, Google’s Simple Just-in-time Checklist Improves Onboarding Results By 25%: https://www.ere.net/articles/wow-googles-simple-just-in-time-checklist-improves-onboarding-results-by-25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35137f59c48b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815067ced47a4" /><Relationship Type="http://schemas.openxmlformats.org/officeDocument/2006/relationships/slideLayout" Target="/ppt/slideLayouts/slideLayout1.xml" Id="R4b16475d1742473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6475d1742473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4f630642a4ca2" /><Relationship Type="http://schemas.openxmlformats.org/officeDocument/2006/relationships/image" Target="/ppt/media/image.png" Id="R01398039271c4a7a" /><Relationship Type="http://schemas.openxmlformats.org/officeDocument/2006/relationships/hyperlink" Target="https://romlam11.github.io/pages/Bob Beat/Bob Beat Prototype.dc.html" TargetMode="External" Id="Re2f39704bd744c8a" /><Relationship Type="http://schemas.openxmlformats.org/officeDocument/2006/relationships/hyperlink" Target="https://romlam11.github.io/pages/Bob Beat/Bob Beat Prototype.dc.html" TargetMode="External" Id="R56e9515697674a57" /><Relationship Type="http://schemas.openxmlformats.org/officeDocument/2006/relationships/notesSlide" Target="/ppt/notesSlides/notesSlide1.xml" Id="Rd41208a1ef9b4d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dcff8fc024b5a" /><Relationship Type="http://schemas.openxmlformats.org/officeDocument/2006/relationships/notesSlide" Target="/ppt/notesSlides/notesSlide2.xml" Id="R322a3c88aef24f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8adbc2254e29" /><Relationship Type="http://schemas.openxmlformats.org/officeDocument/2006/relationships/notesSlide" Target="/ppt/notesSlides/notesSlide3.xml" Id="R59ae33e814ea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cdc2951d041b5" /><Relationship Type="http://schemas.openxmlformats.org/officeDocument/2006/relationships/notesSlide" Target="/ppt/notesSlides/notesSlide4.xml" Id="Red2313a6abd547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ee6084a34a62" /><Relationship Type="http://schemas.openxmlformats.org/officeDocument/2006/relationships/notesSlide" Target="/ppt/notesSlides/notesSlide5.xml" Id="R2ba30a474eba4b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f7d5846d0468d" /><Relationship Type="http://schemas.openxmlformats.org/officeDocument/2006/relationships/hyperlink" Target="https://romlam11.github.io/pages/Bob Beat/Bob Beat Prototype.dc.html" TargetMode="External" Id="R5828514f26a04ec4" /><Relationship Type="http://schemas.openxmlformats.org/officeDocument/2006/relationships/hyperlink" Target="https://romlam11.github.io/pages/Bob Beat/Bob Beat Prototype.dc.html" TargetMode="External" Id="R76ed19d3568d4651" /><Relationship Type="http://schemas.openxmlformats.org/officeDocument/2006/relationships/notesSlide" Target="/ppt/notesSlides/notesSlide6.xml" Id="R1b3d116d1ca1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229e1432a4961" /><Relationship Type="http://schemas.openxmlformats.org/officeDocument/2006/relationships/notesSlide" Target="/ppt/notesSlides/notesSlide7.xml" Id="R5bf829d9375846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619ddba6e4976" /><Relationship Type="http://schemas.openxmlformats.org/officeDocument/2006/relationships/notesSlide" Target="/ppt/notesSlides/notesSlide8.xml" Id="R6aa7a68da25946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c3a3658bf40df" /><Relationship Type="http://schemas.openxmlformats.org/officeDocument/2006/relationships/notesSlide" Target="/ppt/notesSlides/notesSlide9.xml" Id="Rfbf15fd15aad49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d72130fba4717" /><Relationship Type="http://schemas.openxmlformats.org/officeDocument/2006/relationships/notesSlide" Target="/ppt/notesSlides/notesSlide10.xml" Id="Rfe03de19ab9449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C0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Google Shape;1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398039271c4a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80B47CDF-E661-4E7C-9EE1-431FC498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802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C6D6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F7C6D6"/>
                </a:solidFill>
                <a:latin typeface="IBM Plex Mono"/>
                <a:ea typeface="IBM Plex Mono"/>
                <a:cs typeface="IBM Plex Mono"/>
              </a:rPr>
              <a:t>AI Platform PM · Home assignment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3718EE25-1B45-4AA5-A6DB-44F83FEC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9647"/>
            <a:ext cx="18021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4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0"/>
              <a:buFont typeface="Sora"/>
              <a:buNone/>
            </a:pPr>
            <a:r>
              <a:rPr sz="13500" b="1" i="0" u="none" cap="none">
                <a:solidFill>
                  <a:srgbClr val="FFFFFF"/>
                </a:solidFill>
                <a:latin typeface="Sora"/>
                <a:ea typeface="Sora"/>
                <a:cs typeface="Sora"/>
              </a:rPr>
              <a:t>Bob Beat</a:t>
            </a:r>
            <a:endParaRPr sz="13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2707F0A1-5D50-40AB-9F5D-E824C44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55122"/>
            <a:ext cx="10477500" cy="54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5135"/>
              </a:lnSpc>
              <a:spcBef>
                <a:spcPts val="0"/>
              </a:spcBef>
              <a:spcAft>
                <a:spcPts val="0"/>
              </a:spcAft>
              <a:buClr>
                <a:srgbClr val="FFD1DE"/>
              </a:buClr>
              <a:buSzPts val="3300"/>
              <a:buFont typeface="Sora"/>
              <a:buNone/>
            </a:pPr>
            <a:r>
              <a:rPr sz="3300" b="0" i="0" u="none" cap="none">
                <a:solidFill>
                  <a:srgbClr val="FFD1DE"/>
                </a:solidFill>
                <a:latin typeface="Sora"/>
                <a:ea typeface="Sora"/>
                <a:cs typeface="Sora"/>
              </a:rPr>
              <a:t>Notices the missed beat.</a:t>
            </a:r>
            <a:endParaRPr sz="3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1C8F7B46-5835-4FAB-B761-97EF50F3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8513"/>
            <a:ext cx="94183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091"/>
              </a:lnSpc>
              <a:spcBef>
                <a:spcPts val="0"/>
              </a:spcBef>
              <a:spcAft>
                <a:spcPts val="0"/>
              </a:spcAft>
              <a:buClr>
                <a:srgbClr val="F7C6D6"/>
              </a:buClr>
              <a:buSzPts val="2250"/>
              <a:buFont typeface="IBM Plex Sans"/>
              <a:buNone/>
            </a:pPr>
            <a:r>
              <a:rPr sz="2250" b="0" i="0" u="none" cap="none">
                <a:solidFill>
                  <a:srgbClr val="F7C6D6"/>
                </a:solidFill>
                <a:latin typeface="IBM Plex Sans"/>
                <a:ea typeface="IBM Plex Sans"/>
                <a:cs typeface="IBM Plex Sans"/>
              </a:rPr>
              <a:t>An onboarding agent that notices what didn't happen — and gets the right person to act.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F60B6F3D-9F43-4D0B-8FBC-94FC8A4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58213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327DCCE8-0621-434A-A2BD-DE152FCA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96338"/>
            <a:ext cx="7845601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ora"/>
              <a:buNone/>
            </a:pPr>
            <a:r>
              <a:rPr sz="2700" b="0" i="0" u="none" cap="none">
                <a:solidFill>
                  <a:srgbClr val="FFFFFF"/>
                </a:solidFill>
                <a:latin typeface="Sora"/>
                <a:ea typeface="Sora"/>
                <a:cs typeface="Sora"/>
              </a:rPr>
              <a:t>Rom Lampel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E2521BA3-D7C1-4AB6-A493-91049FE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05925"/>
            <a:ext cx="784560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C6D6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F7C6D6"/>
                </a:solidFill>
                <a:latin typeface="IBM Plex Mono"/>
                <a:ea typeface="IBM Plex Mono"/>
                <a:cs typeface="IBM Plex Mono"/>
              </a:rPr>
              <a:t>HiBob · Product recommendation · Employee onboarding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4B6F7FB6-6391-4DDC-A9A9-33D95E03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324" y="9591675"/>
            <a:ext cx="397817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>
            <a:hlinkClick xmlns:r="http://schemas.openxmlformats.org/officeDocument/2006/relationships" xmlns:a="http://schemas.openxmlformats.org/drawingml/2006/main" r:id="Re2f39704bd744c8a"/>
            <a:extLst xmlns:a="http://schemas.openxmlformats.org/drawingml/2006/main">
              <a:ext uri="{FF2B5EF4-FFF2-40B4-BE49-F238E27FC236}">
                <a16:creationId xmlns:a16="http://schemas.microsoft.com/office/drawing/2014/main" id="{60196703-6FF3-493E-9AE7-9D82D32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324" y="9258300"/>
            <a:ext cx="43759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Mono"/>
              <a:buNone/>
            </a:pPr>
            <a:r>
              <a:rPr sz="1800" b="0" i="0" u="sng" cap="none">
                <a:solidFill>
                  <a:srgbClr val="FFFFFF"/>
                </a:solidFill>
                <a:latin typeface="IBM Plex Mono"/>
                <a:ea typeface="IBM Plex Mono"/>
                <a:cs typeface="IBM Plex Mono"/>
                <a:hlinkClick xmlns:r="http://schemas.openxmlformats.org/officeDocument/2006/relationships" r:id="R56e9515697674a57"/>
              </a:rPr>
              <a:t>Open the Bob Beat prototype 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9225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2">
            <a:extLst xmlns:a="http://schemas.openxmlformats.org/drawingml/2006/main">
              <a:ext uri="{FF2B5EF4-FFF2-40B4-BE49-F238E27FC236}">
                <a16:creationId xmlns:a16="http://schemas.microsoft.com/office/drawing/2014/main" id="{1B48E30D-34DC-4EDD-B4C3-9FB19B2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21122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Recommendation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2">
            <a:extLst xmlns:a="http://schemas.openxmlformats.org/drawingml/2006/main">
              <a:ext uri="{FF2B5EF4-FFF2-40B4-BE49-F238E27FC236}">
                <a16:creationId xmlns:a16="http://schemas.microsoft.com/office/drawing/2014/main" id="{AF299F1A-C618-4652-9C6A-9148D3A4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01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DED95070-B57A-4417-B2EB-0AFD2264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0175"/>
            <a:ext cx="15304770" cy="1488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907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5100"/>
              <a:buFont typeface="Sora"/>
              <a:buNone/>
            </a:pPr>
            <a:r>
              <a:rPr sz="5100">
                <a:solidFill>
                  <a:srgbClr val="16163F"/>
                </a:solidFill>
                <a:latin typeface="Sora"/>
                <a:ea typeface="Sora"/>
                <a:cs typeface="Sora"/>
              </a:rPr>
              <a:t>Build the agent that notices </a:t>
            </a:r>
            <a:r>
              <a:rPr sz="5100">
                <a:solidFill>
                  <a:srgbClr val="16163F"/>
                </a:solidFill>
                <a:latin typeface="Sora"/>
                <a:ea typeface="Sora"/>
                <a:cs typeface="Sora"/>
              </a:rPr>
              <a:t>what didn't happen — and gets</a:t>
            </a:r>
            <a:r>
              <a:rPr sz="5100">
                <a:solidFill>
                  <a:srgbClr val="16163F"/>
                </a:solidFill>
                <a:latin typeface="Sora"/>
                <a:ea typeface="Sora"/>
                <a:cs typeface="Sora"/>
              </a:rPr>
              <a:t> the right person to act.</a:t>
            </a:r>
            <a:endParaRPr sz="5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2">
            <a:extLst xmlns:a="http://schemas.openxmlformats.org/drawingml/2006/main">
              <a:ext uri="{FF2B5EF4-FFF2-40B4-BE49-F238E27FC236}">
                <a16:creationId xmlns:a16="http://schemas.microsoft.com/office/drawing/2014/main" id="{F136EBAB-19C6-46D1-8020-B000A189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2952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21F4FCD4-9E1B-4A83-9534-BA44BD27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5377"/>
            <a:ext cx="5615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What we build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F0CB2230-C615-45AE-B31A-DECAC1B2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2102"/>
            <a:ext cx="5258562" cy="2275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An onboarding agent for every new hire. It detects actions that should have happened but didn’t, then gets the right owner to act.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t/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V1: preboarding through day 14.</a:t>
            </a:r>
            <a:endParaRPr sz="2025" b="1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7" name="Google Shape;37;p2">
            <a:extLst xmlns:a="http://schemas.openxmlformats.org/drawingml/2006/main">
              <a:ext uri="{FF2B5EF4-FFF2-40B4-BE49-F238E27FC236}">
                <a16:creationId xmlns:a16="http://schemas.microsoft.com/office/drawing/2014/main" id="{2092696B-C813-4748-897C-2ED87DB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5377"/>
            <a:ext cx="5615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Why Bob </a:t>
            </a:r>
            <a:r>
              <a:rPr sz="1800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can do 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77F18E29-4082-480D-8780-05D13CD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2102"/>
            <a:ext cx="5258562" cy="3021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Readiness depends on actions owned by managers, buddies and </a:t>
            </a: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service owners — and</a:t>
            </a: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misses often go unnoticed.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t/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Bob already holds the lifecycle, identity, org, permissions and workflow context needed to detect those misses and route action.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A0B72A6C-AB71-4FF8-A8EB-28FE4C0D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65377"/>
            <a:ext cx="5615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Platform payoff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B10D7EFB-E390-4E86-AC68-E604EB4D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432102"/>
            <a:ext cx="5258562" cy="190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Use onboarding as the first production use case for Bob’s agent platform.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t/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118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Each release leaves behind a reusable capability that the next agent can use.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8E1693F5-C8DD-4EA1-A803-C5C97CB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99190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5465E1A1-91F3-44EA-A7C5-6146727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37315"/>
            <a:ext cx="16874490" cy="1078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950"/>
              <a:buFont typeface="IBM Plex Sans"/>
              <a:buNone/>
            </a:pPr>
            <a:r>
              <a:rPr sz="220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The bet: fewer missed actions → faster readiness, with less coordination overhead.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2319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3">
            <a:extLst xmlns:a="http://schemas.openxmlformats.org/drawingml/2006/main">
              <a:ext uri="{FF2B5EF4-FFF2-40B4-BE49-F238E27FC236}">
                <a16:creationId xmlns:a16="http://schemas.microsoft.com/office/drawing/2014/main" id="{C1746908-FFEA-499C-984D-1866676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30175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Why onboarding fails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3">
            <a:extLst xmlns:a="http://schemas.openxmlformats.org/drawingml/2006/main">
              <a:ext uri="{FF2B5EF4-FFF2-40B4-BE49-F238E27FC236}">
                <a16:creationId xmlns:a16="http://schemas.microsoft.com/office/drawing/2014/main" id="{0F4901C7-82A9-485C-BE50-BF993EC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02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3">
            <a:extLst xmlns:a="http://schemas.openxmlformats.org/drawingml/2006/main">
              <a:ext uri="{FF2B5EF4-FFF2-40B4-BE49-F238E27FC236}">
                <a16:creationId xmlns:a16="http://schemas.microsoft.com/office/drawing/2014/main" id="{E9043F46-6644-45C4-A4EF-04DCB2E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23975"/>
            <a:ext cx="14716200" cy="126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34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200"/>
              <a:buFont typeface="Sora"/>
              <a:buNone/>
            </a:pPr>
            <a:r>
              <a:rPr sz="3800">
                <a:solidFill>
                  <a:srgbClr val="16163F"/>
                </a:solidFill>
                <a:latin typeface="Sora"/>
                <a:ea typeface="Sora"/>
                <a:cs typeface="Sora"/>
              </a:rPr>
              <a:t>My bet: onboarding fails most when expected actions </a:t>
            </a:r>
            <a:r>
              <a:rPr sz="3800">
                <a:solidFill>
                  <a:srgbClr val="16163F"/>
                </a:solidFill>
                <a:latin typeface="Sora"/>
                <a:ea typeface="Sora"/>
                <a:cs typeface="Sora"/>
              </a:rPr>
              <a:t>don’t happen — and</a:t>
            </a:r>
            <a:r>
              <a:rPr sz="3800">
                <a:solidFill>
                  <a:srgbClr val="16163F"/>
                </a:solidFill>
                <a:latin typeface="Sora"/>
                <a:ea typeface="Sora"/>
                <a:cs typeface="Sora"/>
              </a:rPr>
              <a:t> nobody notices.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3">
            <a:extLst xmlns:a="http://schemas.openxmlformats.org/drawingml/2006/main">
              <a:ext uri="{FF2B5EF4-FFF2-40B4-BE49-F238E27FC236}">
                <a16:creationId xmlns:a16="http://schemas.microsoft.com/office/drawing/2014/main" id="{F3C3E754-4D0E-49C1-AFB0-746C6944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1265"/>
            <a:ext cx="64311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>
            <a:extLst xmlns:a="http://schemas.openxmlformats.org/drawingml/2006/main">
              <a:ext uri="{FF2B5EF4-FFF2-40B4-BE49-F238E27FC236}">
                <a16:creationId xmlns:a16="http://schemas.microsoft.com/office/drawing/2014/main" id="{EF54EA5F-815E-4CDB-8E81-2C9F9EB9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6065"/>
            <a:ext cx="63201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B5B7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5B5B73"/>
                </a:solidFill>
                <a:latin typeface="IBM Plex Mono"/>
                <a:ea typeface="IBM Plex Mono"/>
                <a:cs typeface="IBM Plex Mono"/>
              </a:rPr>
              <a:t>LOUD · </a:t>
            </a:r>
            <a:r>
              <a:rPr sz="1800">
                <a:solidFill>
                  <a:srgbClr val="5B5B73"/>
                </a:solidFill>
                <a:latin typeface="IBM Plex Mono"/>
                <a:ea typeface="IBM Plex Mono"/>
                <a:cs typeface="IBM Plex Mono"/>
              </a:rPr>
              <a:t>gets reported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3">
            <a:extLst xmlns:a="http://schemas.openxmlformats.org/drawingml/2006/main">
              <a:ext uri="{FF2B5EF4-FFF2-40B4-BE49-F238E27FC236}">
                <a16:creationId xmlns:a16="http://schemas.microsoft.com/office/drawing/2014/main" id="{C81BF9B4-95BA-49AD-A9AF-8CB3B454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535" y="2741265"/>
            <a:ext cx="96471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>
            <a:extLst xmlns:a="http://schemas.openxmlformats.org/drawingml/2006/main">
              <a:ext uri="{FF2B5EF4-FFF2-40B4-BE49-F238E27FC236}">
                <a16:creationId xmlns:a16="http://schemas.microsoft.com/office/drawing/2014/main" id="{BAEAD657-B3E2-4A7B-9608-A5D0249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35" y="3046065"/>
            <a:ext cx="98574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SILENT · may never get reported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3">
            <a:extLst xmlns:a="http://schemas.openxmlformats.org/drawingml/2006/main">
              <a:ext uri="{FF2B5EF4-FFF2-40B4-BE49-F238E27FC236}">
                <a16:creationId xmlns:a16="http://schemas.microsoft.com/office/drawing/2014/main" id="{D7FB9487-4BE2-4525-BB2D-B21868B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25" y="3493757"/>
            <a:ext cx="9230100" cy="19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Nobody assigned me a real first task.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My manager never set expectations.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My buddy met me once.</a:t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t/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rPr sz="2025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The new hire may not know anything is missing.</a:t>
            </a:r>
            <a:endParaRPr sz="2025" b="1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E17AE4C2-50EE-4786-8393-1D03E92E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1132"/>
            <a:ext cx="163830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02849222-B0A5-4740-B02A-93980AF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3916"/>
            <a:ext cx="163830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>
            <a:extLst xmlns:a="http://schemas.openxmlformats.org/drawingml/2006/main">
              <a:ext uri="{FF2B5EF4-FFF2-40B4-BE49-F238E27FC236}">
                <a16:creationId xmlns:a16="http://schemas.microsoft.com/office/drawing/2014/main" id="{ACCB05FA-B23E-4247-B092-9710D65F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12991"/>
            <a:ext cx="168744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950"/>
              <a:buFont typeface="IBM Plex Sans"/>
              <a:buNone/>
            </a:pPr>
            <a:r>
              <a:rPr sz="195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Ready = can independently complete the role’s core work loop at the expected standard. Not “onboarding complete.”</a:t>
            </a:r>
            <a:endParaRPr sz="19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3">
            <a:extLst xmlns:a="http://schemas.openxmlformats.org/drawingml/2006/main">
              <a:ext uri="{FF2B5EF4-FFF2-40B4-BE49-F238E27FC236}">
                <a16:creationId xmlns:a16="http://schemas.microsoft.com/office/drawing/2014/main" id="{0E0DA8D9-C516-4D88-9FC6-673E90F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6735"/>
            <a:ext cx="56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947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500"/>
              <a:buFont typeface="Sora"/>
              <a:buNone/>
            </a:pPr>
            <a:r>
              <a:rPr sz="45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12%</a:t>
            </a:r>
            <a:endParaRPr sz="4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3">
            <a:extLst xmlns:a="http://schemas.openxmlformats.org/drawingml/2006/main">
              <a:ext uri="{FF2B5EF4-FFF2-40B4-BE49-F238E27FC236}">
                <a16:creationId xmlns:a16="http://schemas.microsoft.com/office/drawing/2014/main" id="{8817E4CB-DBC0-49CE-8603-EF9AC35E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55385"/>
            <a:ext cx="53109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of employees strongly agree their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organization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onboards well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3">
            <a:extLst xmlns:a="http://schemas.openxmlformats.org/drawingml/2006/main">
              <a:ext uri="{FF2B5EF4-FFF2-40B4-BE49-F238E27FC236}">
                <a16:creationId xmlns:a16="http://schemas.microsoft.com/office/drawing/2014/main" id="{48FA2DBD-4793-45D4-85DC-9B9EFBB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29725"/>
            <a:ext cx="56718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Gallup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3">
            <a:extLst xmlns:a="http://schemas.openxmlformats.org/drawingml/2006/main">
              <a:ext uri="{FF2B5EF4-FFF2-40B4-BE49-F238E27FC236}">
                <a16:creationId xmlns:a16="http://schemas.microsoft.com/office/drawing/2014/main" id="{32F186EE-FBFF-4419-B2CC-750EDD65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7926735"/>
            <a:ext cx="56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947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500"/>
              <a:buFont typeface="Sora"/>
              <a:buNone/>
            </a:pPr>
            <a:r>
              <a:rPr sz="45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29%</a:t>
            </a:r>
            <a:endParaRPr sz="4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3">
            <a:extLst xmlns:a="http://schemas.openxmlformats.org/drawingml/2006/main">
              <a:ext uri="{FF2B5EF4-FFF2-40B4-BE49-F238E27FC236}">
                <a16:creationId xmlns:a16="http://schemas.microsoft.com/office/drawing/2014/main" id="{6ED50E46-4121-4CCB-99EA-86CCAB85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8555385"/>
            <a:ext cx="53109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of new hires feel fully prepared when onboarding ends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803E7339-D2D6-406C-AD95-3CA1A23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9229725"/>
            <a:ext cx="56718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Gallup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DF83DB6D-6FE7-4DDA-8B3D-7192058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275" y="7926735"/>
            <a:ext cx="56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947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500"/>
              <a:buFont typeface="Sora"/>
              <a:buNone/>
            </a:pPr>
            <a:r>
              <a:rPr sz="45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~25% faster</a:t>
            </a:r>
            <a:endParaRPr sz="4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DD434B69-C158-49FB-81DD-33E37D3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275" y="8555385"/>
            <a:ext cx="53109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to full effectiveness when the manager got a five-item checklist the Sunday before start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5F9532CB-86D2-42C4-B5BB-9CD2E3A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275" y="9229725"/>
            <a:ext cx="56718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Google, via J. Sullivan / ERE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CEFD8B5B-DF88-4E6A-B22E-CBA88B1E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3650"/>
            <a:ext cx="5958600" cy="19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000">
                <a:solidFill>
                  <a:srgbClr val="5B5B73"/>
                </a:solidFill>
                <a:latin typeface="IBM Plex Sans"/>
                <a:ea typeface="IBM Plex Sans"/>
                <a:cs typeface="IBM Plex Sans"/>
              </a:rPr>
              <a:t>“I can’t find the leave policy.”</a:t>
            </a:r>
            <a:br/>
            <a:r>
              <a:rPr sz="2000">
                <a:solidFill>
                  <a:srgbClr val="5B5B73"/>
                </a:solidFill>
                <a:latin typeface="IBM Plex Sans"/>
                <a:ea typeface="IBM Plex Sans"/>
                <a:cs typeface="IBM Plex Sans"/>
              </a:rPr>
              <a:t>“My laptop hasn’t arrived.”</a:t>
            </a:r>
            <a:br/>
            <a:endParaRPr sz="2000">
              <a:solidFill>
                <a:srgbClr val="5B5B73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000">
                <a:solidFill>
                  <a:srgbClr val="5B5B73"/>
                </a:solidFill>
                <a:latin typeface="IBM Plex Sans"/>
                <a:ea typeface="IBM Plex Sans"/>
                <a:cs typeface="IBM Plex Sans"/>
              </a:rPr>
              <a:t>Someone raises it. It gets routed. It gets fixed.</a:t>
            </a:r>
            <a:endParaRPr sz="2000">
              <a:solidFill>
                <a:srgbClr val="5B5B73"/>
              </a:solidFill>
              <a:latin typeface="IBM Plex Sans"/>
              <a:ea typeface="IBM Plex Sans"/>
              <a:cs typeface="IBM Plex Sans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16163F"/>
              </a:buClr>
              <a:buSzPts val="2025"/>
              <a:buFont typeface="IBM Plex Sans"/>
              <a:buNone/>
            </a:pPr>
            <a:r>
              <a:t/>
            </a:r>
            <a:endParaRPr sz="2025">
              <a:solidFill>
                <a:srgbClr val="16163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A39F53C8-BB5A-44B8-9E40-C7D937A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10429"/>
            <a:ext cx="168744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950"/>
              <a:buFont typeface="IBM Plex Sans"/>
              <a:buNone/>
            </a:pPr>
            <a:r>
              <a:rPr sz="195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Why this is worth testing</a:t>
            </a:r>
            <a:endParaRPr sz="19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2979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4">
            <a:extLst xmlns:a="http://schemas.openxmlformats.org/drawingml/2006/main">
              <a:ext uri="{FF2B5EF4-FFF2-40B4-BE49-F238E27FC236}">
                <a16:creationId xmlns:a16="http://schemas.microsoft.com/office/drawing/2014/main" id="{36A54B39-81A6-4C19-A0AC-79EC8828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22631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Who is involved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4">
            <a:extLst xmlns:a="http://schemas.openxmlformats.org/drawingml/2006/main">
              <a:ext uri="{FF2B5EF4-FFF2-40B4-BE49-F238E27FC236}">
                <a16:creationId xmlns:a16="http://schemas.microsoft.com/office/drawing/2014/main" id="{135B7E5A-D059-4E7F-9B79-61CD48C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03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4">
            <a:extLst xmlns:a="http://schemas.openxmlformats.org/drawingml/2006/main">
              <a:ext uri="{FF2B5EF4-FFF2-40B4-BE49-F238E27FC236}">
                <a16:creationId xmlns:a16="http://schemas.microsoft.com/office/drawing/2014/main" id="{729ABBAC-87C8-4E79-909F-F498ACB9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47775"/>
            <a:ext cx="18021300" cy="65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34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200"/>
              <a:buFont typeface="Sora"/>
              <a:buNone/>
            </a:pPr>
            <a:r>
              <a:rPr sz="3200">
                <a:solidFill>
                  <a:srgbClr val="16163F"/>
                </a:solidFill>
                <a:latin typeface="Sora"/>
                <a:ea typeface="Sora"/>
                <a:cs typeface="Sora"/>
              </a:rPr>
              <a:t>Onboarding is owned in </a:t>
            </a:r>
            <a:r>
              <a:rPr sz="3200">
                <a:solidFill>
                  <a:srgbClr val="16163F"/>
                </a:solidFill>
                <a:latin typeface="Sora"/>
                <a:ea typeface="Sora"/>
                <a:cs typeface="Sora"/>
              </a:rPr>
              <a:t>pieces — nobody</a:t>
            </a:r>
            <a:r>
              <a:rPr sz="3200">
                <a:solidFill>
                  <a:srgbClr val="16163F"/>
                </a:solidFill>
                <a:latin typeface="Sora"/>
                <a:ea typeface="Sora"/>
                <a:cs typeface="Sora"/>
              </a:rPr>
              <a:t> owns the outcome end to end.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4">
            <a:extLst xmlns:a="http://schemas.openxmlformats.org/drawingml/2006/main">
              <a:ext uri="{FF2B5EF4-FFF2-40B4-BE49-F238E27FC236}">
                <a16:creationId xmlns:a16="http://schemas.microsoft.com/office/drawing/2014/main" id="{A1A4B946-F67B-4806-A03E-467DA49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3570"/>
            <a:ext cx="14716125" cy="75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2025"/>
              <a:buFont typeface="IBM Plex Sans"/>
              <a:buNone/>
            </a:pPr>
            <a:r>
              <a:rPr sz="2025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The new hire depends on actions owned across the organization. The agent closes the gaps between owners.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4">
            <a:extLst xmlns:a="http://schemas.openxmlformats.org/drawingml/2006/main">
              <a:ext uri="{FF2B5EF4-FFF2-40B4-BE49-F238E27FC236}">
                <a16:creationId xmlns:a16="http://schemas.microsoft.com/office/drawing/2014/main" id="{D29222E3-3371-47A1-BF43-D575121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7991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>
            <a:extLst xmlns:a="http://schemas.openxmlformats.org/drawingml/2006/main">
              <a:ext uri="{FF2B5EF4-FFF2-40B4-BE49-F238E27FC236}">
                <a16:creationId xmlns:a16="http://schemas.microsoft.com/office/drawing/2014/main" id="{3118CF78-B898-4F2C-8B1C-6FE4A7A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551"/>
            <a:ext cx="29432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Inside one onboarding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4">
            <a:extLst xmlns:a="http://schemas.openxmlformats.org/drawingml/2006/main">
              <a:ext uri="{FF2B5EF4-FFF2-40B4-BE49-F238E27FC236}">
                <a16:creationId xmlns:a16="http://schemas.microsoft.com/office/drawing/2014/main" id="{D671E691-F434-48B0-886A-8A34782C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7991"/>
            <a:ext cx="534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>
            <a:extLst xmlns:a="http://schemas.openxmlformats.org/drawingml/2006/main">
              <a:ext uri="{FF2B5EF4-FFF2-40B4-BE49-F238E27FC236}">
                <a16:creationId xmlns:a16="http://schemas.microsoft.com/office/drawing/2014/main" id="{0A2F0D85-A11D-457D-B83D-00C1687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95551"/>
            <a:ext cx="5510346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Their job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4">
            <a:extLst xmlns:a="http://schemas.openxmlformats.org/drawingml/2006/main">
              <a:ext uri="{FF2B5EF4-FFF2-40B4-BE49-F238E27FC236}">
                <a16:creationId xmlns:a16="http://schemas.microsoft.com/office/drawing/2014/main" id="{3C7F7C23-B63B-41C2-8879-E0079CD3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3807991"/>
            <a:ext cx="748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>
            <a:extLst xmlns:a="http://schemas.openxmlformats.org/drawingml/2006/main">
              <a:ext uri="{FF2B5EF4-FFF2-40B4-BE49-F238E27FC236}">
                <a16:creationId xmlns:a16="http://schemas.microsoft.com/office/drawing/2014/main" id="{00A6AD2C-F833-45F5-A215-4204D2F8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3095551"/>
            <a:ext cx="7714469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What the agent does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A5EFCA84-AD24-4DA3-8840-A0D84622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5206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>
            <a:extLst xmlns:a="http://schemas.openxmlformats.org/drawingml/2006/main">
              <a:ext uri="{FF2B5EF4-FFF2-40B4-BE49-F238E27FC236}">
                <a16:creationId xmlns:a16="http://schemas.microsoft.com/office/drawing/2014/main" id="{B48B2EEE-A081-421C-82E2-46C6C17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2766"/>
            <a:ext cx="29432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New hire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4">
            <a:extLst xmlns:a="http://schemas.openxmlformats.org/drawingml/2006/main">
              <a:ext uri="{FF2B5EF4-FFF2-40B4-BE49-F238E27FC236}">
                <a16:creationId xmlns:a16="http://schemas.microsoft.com/office/drawing/2014/main" id="{F5A25996-5263-48E0-95E5-71EEBAA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25206"/>
            <a:ext cx="534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>
            <a:extLst xmlns:a="http://schemas.openxmlformats.org/drawingml/2006/main">
              <a:ext uri="{FF2B5EF4-FFF2-40B4-BE49-F238E27FC236}">
                <a16:creationId xmlns:a16="http://schemas.microsoft.com/office/drawing/2014/main" id="{5D716D61-1E98-4332-930C-F2018D20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12766"/>
            <a:ext cx="5510346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Start doing real work, build context and relationships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AD78CF24-D035-4157-9136-A44AF5E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4625206"/>
            <a:ext cx="748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7819B020-3342-4592-B94B-4585725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3912766"/>
            <a:ext cx="7714469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Shows what’s next and clears blockers through the people who own them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ACD9B92D-6C58-4DAC-83DB-6573B5F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1016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>
            <a:extLst xmlns:a="http://schemas.openxmlformats.org/drawingml/2006/main">
              <a:ext uri="{FF2B5EF4-FFF2-40B4-BE49-F238E27FC236}">
                <a16:creationId xmlns:a16="http://schemas.microsoft.com/office/drawing/2014/main" id="{5492D853-5358-48C0-B28E-A5D31FDE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9981"/>
            <a:ext cx="2943225" cy="9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Hiring manager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3F461614-9D4E-496C-968F-89E0DBC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51016"/>
            <a:ext cx="534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>
            <a:extLst xmlns:a="http://schemas.openxmlformats.org/drawingml/2006/main">
              <a:ext uri="{FF2B5EF4-FFF2-40B4-BE49-F238E27FC236}">
                <a16:creationId xmlns:a16="http://schemas.microsoft.com/office/drawing/2014/main" id="{12BE951A-EBE7-47F4-8A8B-0AC7010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29981"/>
            <a:ext cx="5510346" cy="9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Set expectations, choose the first meaningful assignment, provide feedback, decide readiness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97395E34-027A-4D2B-B1F7-145AE99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5751016"/>
            <a:ext cx="748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>
            <a:extLst xmlns:a="http://schemas.openxmlformats.org/drawingml/2006/main">
              <a:ext uri="{FF2B5EF4-FFF2-40B4-BE49-F238E27FC236}">
                <a16:creationId xmlns:a16="http://schemas.microsoft.com/office/drawing/2014/main" id="{7A25BAB8-C0D4-49A3-9257-9ADBBC7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4729981"/>
            <a:ext cx="7714469" cy="9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Drafts the plan, coordinates follow-through, surfaces only decisions requiring </a:t>
            </a: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judgment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979043FF-A7D9-4D50-8E2A-B3F59CC4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5791"/>
            <a:ext cx="29432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Buddy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6CA5A50C-A5C3-435E-9BF4-B19AF1E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55791"/>
            <a:ext cx="5510346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Share the context that isn’t written down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E2B271CA-B1AC-4045-A5E0-BC4C67B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5855791"/>
            <a:ext cx="7714469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Briefs the buddy, sets the cadence, and follows up when it slips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4">
            <a:extLst xmlns:a="http://schemas.openxmlformats.org/drawingml/2006/main">
              <a:ext uri="{FF2B5EF4-FFF2-40B4-BE49-F238E27FC236}">
                <a16:creationId xmlns:a16="http://schemas.microsoft.com/office/drawing/2014/main" id="{95F3AEC4-BEA4-4878-85C9-BC3120D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28322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CF3D240B-18A1-4740-A587-479DD855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5882"/>
            <a:ext cx="29432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Across every onboarding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7C390938-D61F-4C2C-A787-DC40CBDA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528322"/>
            <a:ext cx="534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>
            <a:extLst xmlns:a="http://schemas.openxmlformats.org/drawingml/2006/main">
              <a:ext uri="{FF2B5EF4-FFF2-40B4-BE49-F238E27FC236}">
                <a16:creationId xmlns:a16="http://schemas.microsoft.com/office/drawing/2014/main" id="{7B1CACF8-9871-4A37-A3E9-1375785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7528322"/>
            <a:ext cx="7489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31FE3D27-0CA1-4DB6-A18D-65A0A62A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33097"/>
            <a:ext cx="29432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People Ops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809C2398-35A7-4EDB-8099-24F70EC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633097"/>
            <a:ext cx="5510346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Define a consistent onboarding standard and focus on exceptions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B4BDF7EE-E2FF-4794-AD1E-2A5A235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50" y="7633097"/>
            <a:ext cx="7714469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Runs the default path and escalates only exceptions, with a recommended action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0D37B2F2-C024-47A9-8932-D4300634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91575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14A60129-C840-4B3E-8568-69B933F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10650"/>
            <a:ext cx="168744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People Ops needs consistency; managers need latitude. The agent provides the default path while keeping </a:t>
            </a:r>
            <a:r>
              <a:rPr sz="1875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judgment</a:t>
            </a:r>
            <a:r>
              <a:rPr sz="1875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with the manager.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7016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5">
            <a:extLst xmlns:a="http://schemas.openxmlformats.org/drawingml/2006/main">
              <a:ext uri="{FF2B5EF4-FFF2-40B4-BE49-F238E27FC236}">
                <a16:creationId xmlns:a16="http://schemas.microsoft.com/office/drawing/2014/main" id="{D4142E86-C2C8-4FF3-BC1A-D17E9AAA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241408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Where AI can win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5">
            <a:extLst xmlns:a="http://schemas.openxmlformats.org/drawingml/2006/main">
              <a:ext uri="{FF2B5EF4-FFF2-40B4-BE49-F238E27FC236}">
                <a16:creationId xmlns:a16="http://schemas.microsoft.com/office/drawing/2014/main" id="{A32F8F1B-7D8A-4DFD-95AE-657E780C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04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5">
            <a:extLst xmlns:a="http://schemas.openxmlformats.org/drawingml/2006/main">
              <a:ext uri="{FF2B5EF4-FFF2-40B4-BE49-F238E27FC236}">
                <a16:creationId xmlns:a16="http://schemas.microsoft.com/office/drawing/2014/main" id="{0F18E432-AF41-4C48-9E46-248794C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71575"/>
            <a:ext cx="15304770" cy="1089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240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3600"/>
              <a:buFont typeface="Sora"/>
              <a:buNone/>
            </a:pPr>
            <a:r>
              <a:rPr sz="36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Start with missed actions and follow-through — not Q&amp;A.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5">
            <a:extLst xmlns:a="http://schemas.openxmlformats.org/drawingml/2006/main">
              <a:ext uri="{FF2B5EF4-FFF2-40B4-BE49-F238E27FC236}">
                <a16:creationId xmlns:a16="http://schemas.microsoft.com/office/drawing/2014/main" id="{CC3AF49C-1848-42E3-ADCF-E34DDA0A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7346"/>
            <a:ext cx="16874490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I mapped ~50 onboarding actions from offer acceptance to day 90, grouped them into seven opportunities, and compared them on user value, agent advantage and Bob fit.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#1 and #2 win.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99BCB8E9-7177-49D5-B474-E1245495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03042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95E77789-7853-4FA4-A394-353DEDF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29707"/>
            <a:ext cx="1983685" cy="335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User value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E92A31E2-1B7E-4A76-9000-97D9BBA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129707"/>
            <a:ext cx="2143125" cy="335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Agent advantage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CA247A6D-7768-4F7F-8AB1-BAA6226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129707"/>
            <a:ext cx="1818513" cy="335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Bob fit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5">
            <a:extLst xmlns:a="http://schemas.openxmlformats.org/drawingml/2006/main">
              <a:ext uri="{FF2B5EF4-FFF2-40B4-BE49-F238E27FC236}">
                <a16:creationId xmlns:a16="http://schemas.microsoft.com/office/drawing/2014/main" id="{7AA3495A-F764-4E99-910B-C4C25437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7323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>
            <a:extLst xmlns:a="http://schemas.openxmlformats.org/drawingml/2006/main">
              <a:ext uri="{FF2B5EF4-FFF2-40B4-BE49-F238E27FC236}">
                <a16:creationId xmlns:a16="http://schemas.microsoft.com/office/drawing/2014/main" id="{C68D2106-8F6C-4263-A129-35942C1C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2567"/>
            <a:ext cx="28575" cy="1034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>
            <a:extLst xmlns:a="http://schemas.openxmlformats.org/drawingml/2006/main">
              <a:ext uri="{FF2B5EF4-FFF2-40B4-BE49-F238E27FC236}">
                <a16:creationId xmlns:a16="http://schemas.microsoft.com/office/drawing/2014/main" id="{A212F84C-62E5-4220-BECA-80081B9A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79242"/>
            <a:ext cx="485775" cy="929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5">
            <a:extLst xmlns:a="http://schemas.openxmlformats.org/drawingml/2006/main">
              <a:ext uri="{FF2B5EF4-FFF2-40B4-BE49-F238E27FC236}">
                <a16:creationId xmlns:a16="http://schemas.microsoft.com/office/drawing/2014/main" id="{39258516-804F-475D-B489-2F0A263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7323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>
            <a:extLst xmlns:a="http://schemas.openxmlformats.org/drawingml/2006/main">
              <a:ext uri="{FF2B5EF4-FFF2-40B4-BE49-F238E27FC236}">
                <a16:creationId xmlns:a16="http://schemas.microsoft.com/office/drawing/2014/main" id="{79AA5BE2-9A4C-4CA0-A8CE-18113A2C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9242"/>
            <a:ext cx="9889236" cy="929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Noticing what didn’t happen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Onboarding task overdue. Buddy cadence dropped. Manager action missed. Planned milestone has no follow-up.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5">
            <a:extLst xmlns:a="http://schemas.openxmlformats.org/drawingml/2006/main">
              <a:ext uri="{FF2B5EF4-FFF2-40B4-BE49-F238E27FC236}">
                <a16:creationId xmlns:a16="http://schemas.microsoft.com/office/drawing/2014/main" id="{B292C465-EBE8-45EB-8039-97B5AFE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37323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>
            <a:extLst xmlns:a="http://schemas.openxmlformats.org/drawingml/2006/main">
              <a:ext uri="{FF2B5EF4-FFF2-40B4-BE49-F238E27FC236}">
                <a16:creationId xmlns:a16="http://schemas.microsoft.com/office/drawing/2014/main" id="{71532104-66E2-4063-B193-389AC13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77283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>
            <a:extLst xmlns:a="http://schemas.openxmlformats.org/drawingml/2006/main">
              <a:ext uri="{FF2B5EF4-FFF2-40B4-BE49-F238E27FC236}">
                <a16:creationId xmlns:a16="http://schemas.microsoft.com/office/drawing/2014/main" id="{C62412D5-E755-4EB4-BC1D-427AFC0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77283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>
            <a:extLst xmlns:a="http://schemas.openxmlformats.org/drawingml/2006/main">
              <a:ext uri="{FF2B5EF4-FFF2-40B4-BE49-F238E27FC236}">
                <a16:creationId xmlns:a16="http://schemas.microsoft.com/office/drawing/2014/main" id="{C2A3F164-C7A7-41A5-959C-3312BF85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3977283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0C145F84-11DF-4B71-B50D-31962AD7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3977283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35DC6FDA-EDD4-4615-942C-DC3F4FB7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3977283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771A7828-8E50-469A-926B-FAB6013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3977283"/>
            <a:ext cx="162297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C096126E-7A70-4E71-ADB2-AB937BA8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4469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4AA43017-95B7-4D04-AAA6-C732C155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6848"/>
            <a:ext cx="28575" cy="737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A5C4D901-24B9-4E37-8F7B-9BEDC5B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13523"/>
            <a:ext cx="485775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353C7FE0-3153-456A-93CA-3882E903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4469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D18722DB-6B85-4B62-8910-85FB091F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3523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Coordination &amp; follow-through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Access requests, scheduling, task follow-up, reminders and escalation.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B7A63F39-67D5-40A5-96CA-5AF2F47D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74469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D8C3397C-2028-4B92-B005-55C88D1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63033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0E0B1058-B224-496B-A1DF-4886749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63033"/>
            <a:ext cx="15327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E7D3B69D-FE98-403D-A692-1240D8B7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4863033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48F0FB2B-C61E-483A-AA31-9EBDD1E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4863033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2FAAFE44-3B5A-4E51-A29E-A178009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4863033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6F5EEEAD-DF86-44E1-A285-E3AF96E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4863033"/>
            <a:ext cx="15327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A2D72E34-1A35-443C-BF85-1EB3E162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1614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6BAD2D40-B01D-4966-A560-11F5BFAD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0669"/>
            <a:ext cx="609600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5">
            <a:extLst xmlns:a="http://schemas.openxmlformats.org/drawingml/2006/main">
              <a:ext uri="{FF2B5EF4-FFF2-40B4-BE49-F238E27FC236}">
                <a16:creationId xmlns:a16="http://schemas.microsoft.com/office/drawing/2014/main" id="{5006692F-06A2-480D-B1E6-D9B660B5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11614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>
            <a:extLst xmlns:a="http://schemas.openxmlformats.org/drawingml/2006/main">
              <a:ext uri="{FF2B5EF4-FFF2-40B4-BE49-F238E27FC236}">
                <a16:creationId xmlns:a16="http://schemas.microsoft.com/office/drawing/2014/main" id="{F295D63A-38E4-4805-84B8-0A1EEAD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0669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Plan drafting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30/60/90 plan, buddy options, first assignment, week one. Propose → edit → approve.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5">
            <a:extLst xmlns:a="http://schemas.openxmlformats.org/drawingml/2006/main">
              <a:ext uri="{FF2B5EF4-FFF2-40B4-BE49-F238E27FC236}">
                <a16:creationId xmlns:a16="http://schemas.microsoft.com/office/drawing/2014/main" id="{F0D7063A-A0E1-49EC-9EB7-D3EEC671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011614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>
            <a:extLst xmlns:a="http://schemas.openxmlformats.org/drawingml/2006/main">
              <a:ext uri="{FF2B5EF4-FFF2-40B4-BE49-F238E27FC236}">
                <a16:creationId xmlns:a16="http://schemas.microsoft.com/office/drawing/2014/main" id="{183BFEA1-2AC2-414E-B2C8-4C3B933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00179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>
            <a:extLst xmlns:a="http://schemas.openxmlformats.org/drawingml/2006/main">
              <a:ext uri="{FF2B5EF4-FFF2-40B4-BE49-F238E27FC236}">
                <a16:creationId xmlns:a16="http://schemas.microsoft.com/office/drawing/2014/main" id="{2A655480-1A49-4670-9887-C1ADFB5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00179"/>
            <a:ext cx="171316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>
            <a:extLst xmlns:a="http://schemas.openxmlformats.org/drawingml/2006/main">
              <a:ext uri="{FF2B5EF4-FFF2-40B4-BE49-F238E27FC236}">
                <a16:creationId xmlns:a16="http://schemas.microsoft.com/office/drawing/2014/main" id="{50EA351C-11B6-47E6-B89D-C66BA38D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5600179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>
            <a:extLst xmlns:a="http://schemas.openxmlformats.org/drawingml/2006/main">
              <a:ext uri="{FF2B5EF4-FFF2-40B4-BE49-F238E27FC236}">
                <a16:creationId xmlns:a16="http://schemas.microsoft.com/office/drawing/2014/main" id="{CE89BDFE-4505-415B-86DD-2EABEC1D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5600179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>
            <a:extLst xmlns:a="http://schemas.openxmlformats.org/drawingml/2006/main">
              <a:ext uri="{FF2B5EF4-FFF2-40B4-BE49-F238E27FC236}">
                <a16:creationId xmlns:a16="http://schemas.microsoft.com/office/drawing/2014/main" id="{0B75513D-A6CF-4A2C-BB36-F211CC7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5600179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>
            <a:extLst xmlns:a="http://schemas.openxmlformats.org/drawingml/2006/main">
              <a:ext uri="{FF2B5EF4-FFF2-40B4-BE49-F238E27FC236}">
                <a16:creationId xmlns:a16="http://schemas.microsoft.com/office/drawing/2014/main" id="{316167F8-7C22-437B-A6A3-8B81EDDC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5600179"/>
            <a:ext cx="15327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>
            <a:extLst xmlns:a="http://schemas.openxmlformats.org/drawingml/2006/main">
              <a:ext uri="{FF2B5EF4-FFF2-40B4-BE49-F238E27FC236}">
                <a16:creationId xmlns:a16="http://schemas.microsoft.com/office/drawing/2014/main" id="{C20BEB29-83D9-4CF6-9FE8-65C63A50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8760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>
            <a:extLst xmlns:a="http://schemas.openxmlformats.org/drawingml/2006/main">
              <a:ext uri="{FF2B5EF4-FFF2-40B4-BE49-F238E27FC236}">
                <a16:creationId xmlns:a16="http://schemas.microsoft.com/office/drawing/2014/main" id="{513E7CC2-1817-4EB4-9D4F-6CA7E81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87814"/>
            <a:ext cx="609600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5">
            <a:extLst xmlns:a="http://schemas.openxmlformats.org/drawingml/2006/main">
              <a:ext uri="{FF2B5EF4-FFF2-40B4-BE49-F238E27FC236}">
                <a16:creationId xmlns:a16="http://schemas.microsoft.com/office/drawing/2014/main" id="{CB402925-6872-45BF-B129-7F797875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74876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>
            <a:extLst xmlns:a="http://schemas.openxmlformats.org/drawingml/2006/main">
              <a:ext uri="{FF2B5EF4-FFF2-40B4-BE49-F238E27FC236}">
                <a16:creationId xmlns:a16="http://schemas.microsoft.com/office/drawing/2014/main" id="{2A5F2EEB-3824-4ADE-95E5-482F074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87814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Org context &amp; connections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Stakeholder maps, ownership and introductions. Strong Bob fit through org and employee context.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5">
            <a:extLst xmlns:a="http://schemas.openxmlformats.org/drawingml/2006/main">
              <a:ext uri="{FF2B5EF4-FFF2-40B4-BE49-F238E27FC236}">
                <a16:creationId xmlns:a16="http://schemas.microsoft.com/office/drawing/2014/main" id="{AE2EE7E1-09B9-415B-A7DF-1190CB1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4876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>
            <a:extLst xmlns:a="http://schemas.openxmlformats.org/drawingml/2006/main">
              <a:ext uri="{FF2B5EF4-FFF2-40B4-BE49-F238E27FC236}">
                <a16:creationId xmlns:a16="http://schemas.microsoft.com/office/drawing/2014/main" id="{6EE755D1-D158-4BD0-9BA5-2E3952C1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37325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>
            <a:extLst xmlns:a="http://schemas.openxmlformats.org/drawingml/2006/main">
              <a:ext uri="{FF2B5EF4-FFF2-40B4-BE49-F238E27FC236}">
                <a16:creationId xmlns:a16="http://schemas.microsoft.com/office/drawing/2014/main" id="{1440101D-351F-4B54-92CF-103D7A7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37325"/>
            <a:ext cx="14786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>
            <a:extLst xmlns:a="http://schemas.openxmlformats.org/drawingml/2006/main">
              <a:ext uri="{FF2B5EF4-FFF2-40B4-BE49-F238E27FC236}">
                <a16:creationId xmlns:a16="http://schemas.microsoft.com/office/drawing/2014/main" id="{83C70D1F-E62A-47AD-BE5D-9DE2B786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6337325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>
            <a:extLst xmlns:a="http://schemas.openxmlformats.org/drawingml/2006/main">
              <a:ext uri="{FF2B5EF4-FFF2-40B4-BE49-F238E27FC236}">
                <a16:creationId xmlns:a16="http://schemas.microsoft.com/office/drawing/2014/main" id="{A20CA4CD-4E18-401A-B919-AE28A922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6337325"/>
            <a:ext cx="15328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>
            <a:extLst xmlns:a="http://schemas.openxmlformats.org/drawingml/2006/main">
              <a:ext uri="{FF2B5EF4-FFF2-40B4-BE49-F238E27FC236}">
                <a16:creationId xmlns:a16="http://schemas.microsoft.com/office/drawing/2014/main" id="{D73F0457-14D1-47A3-9C7E-993BC44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6337325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>
            <a:extLst xmlns:a="http://schemas.openxmlformats.org/drawingml/2006/main">
              <a:ext uri="{FF2B5EF4-FFF2-40B4-BE49-F238E27FC236}">
                <a16:creationId xmlns:a16="http://schemas.microsoft.com/office/drawing/2014/main" id="{D1B5C440-877A-41BF-8F1F-58F4D5ED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6337325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>
            <a:extLst xmlns:a="http://schemas.openxmlformats.org/drawingml/2006/main">
              <a:ext uri="{FF2B5EF4-FFF2-40B4-BE49-F238E27FC236}">
                <a16:creationId xmlns:a16="http://schemas.microsoft.com/office/drawing/2014/main" id="{44F8E4ED-5AE9-43E8-915B-A4DA46A3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5906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>
            <a:extLst xmlns:a="http://schemas.openxmlformats.org/drawingml/2006/main">
              <a:ext uri="{FF2B5EF4-FFF2-40B4-BE49-F238E27FC236}">
                <a16:creationId xmlns:a16="http://schemas.microsoft.com/office/drawing/2014/main" id="{8E3A29EE-5641-417E-9754-5DBECBB8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24960"/>
            <a:ext cx="609600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5">
            <a:extLst xmlns:a="http://schemas.openxmlformats.org/drawingml/2006/main">
              <a:ext uri="{FF2B5EF4-FFF2-40B4-BE49-F238E27FC236}">
                <a16:creationId xmlns:a16="http://schemas.microsoft.com/office/drawing/2014/main" id="{DE3D8C37-71C7-4A40-ACFD-33DFCB21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485906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>
            <a:extLst xmlns:a="http://schemas.openxmlformats.org/drawingml/2006/main">
              <a:ext uri="{FF2B5EF4-FFF2-40B4-BE49-F238E27FC236}">
                <a16:creationId xmlns:a16="http://schemas.microsoft.com/office/drawing/2014/main" id="{AC76E372-8A3B-446C-947C-E51D51A1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824960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Readiness measurement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Readiness signals, evidence packs, cohort trends. Valuable, but depends on reliable signals from 1–2.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5">
            <a:extLst xmlns:a="http://schemas.openxmlformats.org/drawingml/2006/main">
              <a:ext uri="{FF2B5EF4-FFF2-40B4-BE49-F238E27FC236}">
                <a16:creationId xmlns:a16="http://schemas.microsoft.com/office/drawing/2014/main" id="{68F60CA7-5A6D-43EC-A8CD-4BBE4D77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485906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>
            <a:extLst xmlns:a="http://schemas.openxmlformats.org/drawingml/2006/main">
              <a:ext uri="{FF2B5EF4-FFF2-40B4-BE49-F238E27FC236}">
                <a16:creationId xmlns:a16="http://schemas.microsoft.com/office/drawing/2014/main" id="{B38A79C2-A508-478A-B642-D833FFEB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074471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>
            <a:extLst xmlns:a="http://schemas.openxmlformats.org/drawingml/2006/main">
              <a:ext uri="{FF2B5EF4-FFF2-40B4-BE49-F238E27FC236}">
                <a16:creationId xmlns:a16="http://schemas.microsoft.com/office/drawing/2014/main" id="{531BBF37-CCE7-4D94-B06E-F288A80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074471"/>
            <a:ext cx="15868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>
            <a:extLst xmlns:a="http://schemas.openxmlformats.org/drawingml/2006/main">
              <a:ext uri="{FF2B5EF4-FFF2-40B4-BE49-F238E27FC236}">
                <a16:creationId xmlns:a16="http://schemas.microsoft.com/office/drawing/2014/main" id="{075C38EC-3121-4E9D-A08D-21612AAA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7074471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>
            <a:extLst xmlns:a="http://schemas.openxmlformats.org/drawingml/2006/main">
              <a:ext uri="{FF2B5EF4-FFF2-40B4-BE49-F238E27FC236}">
                <a16:creationId xmlns:a16="http://schemas.microsoft.com/office/drawing/2014/main" id="{91BA1078-FA70-4E1F-8F50-BD5E440C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7074471"/>
            <a:ext cx="14427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>
            <a:extLst xmlns:a="http://schemas.openxmlformats.org/drawingml/2006/main">
              <a:ext uri="{FF2B5EF4-FFF2-40B4-BE49-F238E27FC236}">
                <a16:creationId xmlns:a16="http://schemas.microsoft.com/office/drawing/2014/main" id="{936C597D-C602-40AD-845F-76FEB0A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7074471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>
            <a:extLst xmlns:a="http://schemas.openxmlformats.org/drawingml/2006/main">
              <a:ext uri="{FF2B5EF4-FFF2-40B4-BE49-F238E27FC236}">
                <a16:creationId xmlns:a16="http://schemas.microsoft.com/office/drawing/2014/main" id="{32DBD9C3-BD62-46D0-B716-70B7633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7074471"/>
            <a:ext cx="171316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>
            <a:extLst xmlns:a="http://schemas.openxmlformats.org/drawingml/2006/main">
              <a:ext uri="{FF2B5EF4-FFF2-40B4-BE49-F238E27FC236}">
                <a16:creationId xmlns:a16="http://schemas.microsoft.com/office/drawing/2014/main" id="{9E96B427-B122-484C-9F7C-6BEDA05B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23052"/>
            <a:ext cx="53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>
            <a:extLst xmlns:a="http://schemas.openxmlformats.org/drawingml/2006/main">
              <a:ext uri="{FF2B5EF4-FFF2-40B4-BE49-F238E27FC236}">
                <a16:creationId xmlns:a16="http://schemas.microsoft.com/office/drawing/2014/main" id="{8C20F4BC-6B10-49E5-BEC8-E93ED45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62106"/>
            <a:ext cx="609600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B5B5C6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B5B5C6"/>
                </a:solidFill>
                <a:latin typeface="IBM Plex Mono"/>
                <a:ea typeface="IBM Plex Mono"/>
                <a:cs typeface="IBM Plex Mono"/>
              </a:rPr>
              <a:t>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5">
            <a:extLst xmlns:a="http://schemas.openxmlformats.org/drawingml/2006/main">
              <a:ext uri="{FF2B5EF4-FFF2-40B4-BE49-F238E27FC236}">
                <a16:creationId xmlns:a16="http://schemas.microsoft.com/office/drawing/2014/main" id="{E06ED999-6E92-4C93-98AC-86B7569B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223052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>
            <a:extLst xmlns:a="http://schemas.openxmlformats.org/drawingml/2006/main">
              <a:ext uri="{FF2B5EF4-FFF2-40B4-BE49-F238E27FC236}">
                <a16:creationId xmlns:a16="http://schemas.microsoft.com/office/drawing/2014/main" id="{90277B3A-110B-4EBF-BB2C-21330AB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562106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Knowledge answering </a:t>
            </a: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Policies, benefits, how-to questions. High demand, lower differentiation, highest content-trust risk.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5">
            <a:extLst xmlns:a="http://schemas.openxmlformats.org/drawingml/2006/main">
              <a:ext uri="{FF2B5EF4-FFF2-40B4-BE49-F238E27FC236}">
                <a16:creationId xmlns:a16="http://schemas.microsoft.com/office/drawing/2014/main" id="{A8F103BC-4A79-43BE-B3DB-EAF917F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223052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>
            <a:extLst xmlns:a="http://schemas.openxmlformats.org/drawingml/2006/main">
              <a:ext uri="{FF2B5EF4-FFF2-40B4-BE49-F238E27FC236}">
                <a16:creationId xmlns:a16="http://schemas.microsoft.com/office/drawing/2014/main" id="{0C796F54-D438-4BB0-8CE2-63767622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811616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>
            <a:extLst xmlns:a="http://schemas.openxmlformats.org/drawingml/2006/main">
              <a:ext uri="{FF2B5EF4-FFF2-40B4-BE49-F238E27FC236}">
                <a16:creationId xmlns:a16="http://schemas.microsoft.com/office/drawing/2014/main" id="{0AAA76D6-A0D7-47AC-97C9-EE856513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811616"/>
            <a:ext cx="8114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>
            <a:extLst xmlns:a="http://schemas.openxmlformats.org/drawingml/2006/main">
              <a:ext uri="{FF2B5EF4-FFF2-40B4-BE49-F238E27FC236}">
                <a16:creationId xmlns:a16="http://schemas.microsoft.com/office/drawing/2014/main" id="{8591545A-BE0C-43F5-8643-986AAD29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7811616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>
            <a:extLst xmlns:a="http://schemas.openxmlformats.org/drawingml/2006/main">
              <a:ext uri="{FF2B5EF4-FFF2-40B4-BE49-F238E27FC236}">
                <a16:creationId xmlns:a16="http://schemas.microsoft.com/office/drawing/2014/main" id="{5F7EB92E-74E1-4A6A-83B2-D3E6334E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7811616"/>
            <a:ext cx="16230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>
            <a:extLst xmlns:a="http://schemas.openxmlformats.org/drawingml/2006/main">
              <a:ext uri="{FF2B5EF4-FFF2-40B4-BE49-F238E27FC236}">
                <a16:creationId xmlns:a16="http://schemas.microsoft.com/office/drawing/2014/main" id="{3FD4DA46-DDD2-4D4B-AB79-DDAEBC8A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7811616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>
            <a:extLst xmlns:a="http://schemas.openxmlformats.org/drawingml/2006/main">
              <a:ext uri="{FF2B5EF4-FFF2-40B4-BE49-F238E27FC236}">
                <a16:creationId xmlns:a16="http://schemas.microsoft.com/office/drawing/2014/main" id="{C15B20CD-AB21-42FF-857F-5174023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7811616"/>
            <a:ext cx="450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>
            <a:extLst xmlns:a="http://schemas.openxmlformats.org/drawingml/2006/main">
              <a:ext uri="{FF2B5EF4-FFF2-40B4-BE49-F238E27FC236}">
                <a16:creationId xmlns:a16="http://schemas.microsoft.com/office/drawing/2014/main" id="{73A57F6B-1A59-4D4E-A8BD-C6196C0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99252"/>
            <a:ext cx="609600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B5B5C6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B5B5C6"/>
                </a:solidFill>
                <a:latin typeface="IBM Plex Mono"/>
                <a:ea typeface="IBM Plex Mono"/>
                <a:cs typeface="IBM Plex Mono"/>
              </a:rPr>
              <a:t>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5">
            <a:extLst xmlns:a="http://schemas.openxmlformats.org/drawingml/2006/main">
              <a:ext uri="{FF2B5EF4-FFF2-40B4-BE49-F238E27FC236}">
                <a16:creationId xmlns:a16="http://schemas.microsoft.com/office/drawing/2014/main" id="{A6FA4097-B352-4744-A69C-7B33678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299252"/>
            <a:ext cx="9889236" cy="63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Human judgment</a:t>
            </a:r>
            <a:r>
              <a:rPr sz="1800" b="1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Expectations, feedback, first assignment, readiness call. Assist — never decide.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5">
            <a:extLst xmlns:a="http://schemas.openxmlformats.org/drawingml/2006/main">
              <a:ext uri="{FF2B5EF4-FFF2-40B4-BE49-F238E27FC236}">
                <a16:creationId xmlns:a16="http://schemas.microsoft.com/office/drawing/2014/main" id="{B99C9D88-6774-432D-A3A6-D898098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548762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>
            <a:extLst xmlns:a="http://schemas.openxmlformats.org/drawingml/2006/main">
              <a:ext uri="{FF2B5EF4-FFF2-40B4-BE49-F238E27FC236}">
                <a16:creationId xmlns:a16="http://schemas.microsoft.com/office/drawing/2014/main" id="{B140453F-069E-494B-850F-BD29F57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548762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F3BFA927-66E0-4259-9FFB-D5A956E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8548762"/>
            <a:ext cx="1803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F8F9D35B-2092-4295-80FC-4C736A24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250" y="8548762"/>
            <a:ext cx="21639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5293C121-30F6-4178-A801-23C1603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8548762"/>
            <a:ext cx="180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F7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E9A02B43-94CA-4763-9F0A-409A6B0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075" y="8548762"/>
            <a:ext cx="5409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133FBA92-0DF0-47A8-9727-9487187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60197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326F1082-E5A5-4060-8C0C-5406F20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60222"/>
            <a:ext cx="168744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Start with 1 + 2: together they prove the core agent loop — </a:t>
            </a:r>
            <a:r>
              <a:rPr sz="1875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detect a miss → find the owner → act → verify.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9552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Google Shape;205;p6">
            <a:extLst xmlns:a="http://schemas.openxmlformats.org/drawingml/2006/main">
              <a:ext uri="{FF2B5EF4-FFF2-40B4-BE49-F238E27FC236}">
                <a16:creationId xmlns:a16="http://schemas.microsoft.com/office/drawing/2014/main" id="{FF3CC2C6-A1DB-4B05-A29E-8C4E197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21122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The experience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6">
            <a:extLst xmlns:a="http://schemas.openxmlformats.org/drawingml/2006/main">
              <a:ext uri="{FF2B5EF4-FFF2-40B4-BE49-F238E27FC236}">
                <a16:creationId xmlns:a16="http://schemas.microsoft.com/office/drawing/2014/main" id="{75F370A6-6669-4092-A21E-F266605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05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6">
            <a:extLst xmlns:a="http://schemas.openxmlformats.org/drawingml/2006/main">
              <a:ext uri="{FF2B5EF4-FFF2-40B4-BE49-F238E27FC236}">
                <a16:creationId xmlns:a16="http://schemas.microsoft.com/office/drawing/2014/main" id="{E2F31A79-FDA5-4D36-81A0-3738FB8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47775"/>
            <a:ext cx="18021300" cy="65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34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200"/>
              <a:buFont typeface="Sora"/>
              <a:buNone/>
            </a:pPr>
            <a:r>
              <a:rPr sz="42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One hire, from offer to day 90.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6">
            <a:extLst xmlns:a="http://schemas.openxmlformats.org/drawingml/2006/main">
              <a:ext uri="{FF2B5EF4-FFF2-40B4-BE49-F238E27FC236}">
                <a16:creationId xmlns:a16="http://schemas.microsoft.com/office/drawing/2014/main" id="{31FBBDC6-9A81-4A36-93C4-1CC0166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4520"/>
            <a:ext cx="1471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Maya joins as a product designer. Her team owns onboarding; the agent tracks the plan and closes missed actions.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6">
            <a:extLst xmlns:a="http://schemas.openxmlformats.org/drawingml/2006/main">
              <a:ext uri="{FF2B5EF4-FFF2-40B4-BE49-F238E27FC236}">
                <a16:creationId xmlns:a16="http://schemas.microsoft.com/office/drawing/2014/main" id="{37B1EB8B-7877-4677-A86B-0DE2AEC4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1882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>
            <a:extLst xmlns:a="http://schemas.openxmlformats.org/drawingml/2006/main">
              <a:ext uri="{FF2B5EF4-FFF2-40B4-BE49-F238E27FC236}">
                <a16:creationId xmlns:a16="http://schemas.microsoft.com/office/drawing/2014/main" id="{2192A509-AA6D-4690-B9AE-A67B4B1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2395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−21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6">
            <a:extLst xmlns:a="http://schemas.openxmlformats.org/drawingml/2006/main">
              <a:ext uri="{FF2B5EF4-FFF2-40B4-BE49-F238E27FC236}">
                <a16:creationId xmlns:a16="http://schemas.microsoft.com/office/drawing/2014/main" id="{C76EE297-A788-40C3-81AD-D5DD9C4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65" y="3442395"/>
            <a:ext cx="117351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WhatsApp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6">
            <a:extLst xmlns:a="http://schemas.openxmlformats.org/drawingml/2006/main">
              <a:ext uri="{FF2B5EF4-FFF2-40B4-BE49-F238E27FC236}">
                <a16:creationId xmlns:a16="http://schemas.microsoft.com/office/drawing/2014/main" id="{BCF863A1-2B81-4B07-A91D-1009FAD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2920"/>
            <a:ext cx="3100197" cy="158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Welcome and paperwork. The agent tracks her access request and follows up with its owner.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6">
            <a:extLst xmlns:a="http://schemas.openxmlformats.org/drawingml/2006/main">
              <a:ext uri="{FF2B5EF4-FFF2-40B4-BE49-F238E27FC236}">
                <a16:creationId xmlns:a16="http://schemas.microsoft.com/office/drawing/2014/main" id="{DDE8CC62-CAD1-4552-8C41-55CEFC2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11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>
            <a:extLst xmlns:a="http://schemas.openxmlformats.org/drawingml/2006/main">
              <a:ext uri="{FF2B5EF4-FFF2-40B4-BE49-F238E27FC236}">
                <a16:creationId xmlns:a16="http://schemas.microsoft.com/office/drawing/2014/main" id="{51208C49-D956-463C-9D8F-B95D8C6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188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>
            <a:extLst xmlns:a="http://schemas.openxmlformats.org/drawingml/2006/main">
              <a:ext uri="{FF2B5EF4-FFF2-40B4-BE49-F238E27FC236}">
                <a16:creationId xmlns:a16="http://schemas.microsoft.com/office/drawing/2014/main" id="{A57BA3FC-7130-45B2-A205-5E79B1B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80795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−7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6">
            <a:extLst xmlns:a="http://schemas.openxmlformats.org/drawingml/2006/main">
              <a:ext uri="{FF2B5EF4-FFF2-40B4-BE49-F238E27FC236}">
                <a16:creationId xmlns:a16="http://schemas.microsoft.com/office/drawing/2014/main" id="{8734E791-0D9F-4518-AF8E-24020E0C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871320"/>
            <a:ext cx="3100197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Her manager gets a draft 30/60/90 plan and three buddy options. He edits and approves.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6">
            <a:extLst xmlns:a="http://schemas.openxmlformats.org/drawingml/2006/main">
              <a:ext uri="{FF2B5EF4-FFF2-40B4-BE49-F238E27FC236}">
                <a16:creationId xmlns:a16="http://schemas.microsoft.com/office/drawing/2014/main" id="{114418F0-4E64-4EF9-A00B-7836C9F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59585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−1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6">
            <a:extLst xmlns:a="http://schemas.openxmlformats.org/drawingml/2006/main">
              <a:ext uri="{FF2B5EF4-FFF2-40B4-BE49-F238E27FC236}">
                <a16:creationId xmlns:a16="http://schemas.microsoft.com/office/drawing/2014/main" id="{6A11A4BB-4F83-4463-9DD8-CB2F63F3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0110"/>
            <a:ext cx="3100197" cy="9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One message to the manager: five actions from the current onboarding state.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6">
            <a:extLst xmlns:a="http://schemas.openxmlformats.org/drawingml/2006/main">
              <a:ext uri="{FF2B5EF4-FFF2-40B4-BE49-F238E27FC236}">
                <a16:creationId xmlns:a16="http://schemas.microsoft.com/office/drawing/2014/main" id="{A0E32576-8558-4D0F-A5FF-8B875D8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711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>
            <a:extLst xmlns:a="http://schemas.openxmlformats.org/drawingml/2006/main">
              <a:ext uri="{FF2B5EF4-FFF2-40B4-BE49-F238E27FC236}">
                <a16:creationId xmlns:a16="http://schemas.microsoft.com/office/drawing/2014/main" id="{C3428DB5-6A52-4DE5-9EAF-450E88FA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188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>
            <a:extLst xmlns:a="http://schemas.openxmlformats.org/drawingml/2006/main">
              <a:ext uri="{FF2B5EF4-FFF2-40B4-BE49-F238E27FC236}">
                <a16:creationId xmlns:a16="http://schemas.microsoft.com/office/drawing/2014/main" id="{4612A0BA-FF21-41DA-99C6-DD530D00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48079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6">
            <a:extLst xmlns:a="http://schemas.openxmlformats.org/drawingml/2006/main">
              <a:ext uri="{FF2B5EF4-FFF2-40B4-BE49-F238E27FC236}">
                <a16:creationId xmlns:a16="http://schemas.microsoft.com/office/drawing/2014/main" id="{9B9FD128-009B-4BB1-BCA6-D39102EA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80795"/>
            <a:ext cx="241457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WhatsApp → Slack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6">
            <a:extLst xmlns:a="http://schemas.openxmlformats.org/drawingml/2006/main">
              <a:ext uri="{FF2B5EF4-FFF2-40B4-BE49-F238E27FC236}">
                <a16:creationId xmlns:a16="http://schemas.microsoft.com/office/drawing/2014/main" id="{7EE62108-CDB7-4D0C-BB82-E75080C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871320"/>
            <a:ext cx="3100197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Her week-one plan is in place, her buddy is assigned, and her manager’s first actions are tracked.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6">
            <a:extLst xmlns:a="http://schemas.openxmlformats.org/drawingml/2006/main">
              <a:ext uri="{FF2B5EF4-FFF2-40B4-BE49-F238E27FC236}">
                <a16:creationId xmlns:a16="http://schemas.microsoft.com/office/drawing/2014/main" id="{E2E39907-72E2-41B0-B366-33C6EB98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33799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Day 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6">
            <a:extLst xmlns:a="http://schemas.openxmlformats.org/drawingml/2006/main">
              <a:ext uri="{FF2B5EF4-FFF2-40B4-BE49-F238E27FC236}">
                <a16:creationId xmlns:a16="http://schemas.microsoft.com/office/drawing/2014/main" id="{97D4F095-F753-4B2B-8133-8DF1683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324"/>
            <a:ext cx="3100197" cy="1889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With connected access data, the agent sees that Maya still hasn’t opened the design system.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It alerts IT and her manager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. Maya doesn’t have to ask.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66411671-EFB5-4B19-AF26-9B36E8A0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711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>
            <a:extLst xmlns:a="http://schemas.openxmlformats.org/drawingml/2006/main">
              <a:ext uri="{FF2B5EF4-FFF2-40B4-BE49-F238E27FC236}">
                <a16:creationId xmlns:a16="http://schemas.microsoft.com/office/drawing/2014/main" id="{E6843992-4371-4CF9-988B-FA19D54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1188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C07DCB70-EE2D-431E-A78B-DCC8FF76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0795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Day 10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6">
            <a:extLst xmlns:a="http://schemas.openxmlformats.org/drawingml/2006/main">
              <a:ext uri="{FF2B5EF4-FFF2-40B4-BE49-F238E27FC236}">
                <a16:creationId xmlns:a16="http://schemas.microsoft.com/office/drawing/2014/main" id="{DA4E7503-576D-4000-98AF-9131F092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71320"/>
            <a:ext cx="3100197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No buddy meeting since the first. 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The agent offers two slots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; the buddy books one.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CAF62616-2F59-4FAA-9BB2-1D9A2E63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750990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26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5132C9F9-7CDC-4B08-8ECE-503FC01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41515"/>
            <a:ext cx="3100197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Maya asks about parental leave. The agent names the policy owner and hands off instead of guessing.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6">
            <a:extLst xmlns:a="http://schemas.openxmlformats.org/drawingml/2006/main">
              <a:ext uri="{FF2B5EF4-FFF2-40B4-BE49-F238E27FC236}">
                <a16:creationId xmlns:a16="http://schemas.microsoft.com/office/drawing/2014/main" id="{83FCDC95-FC18-4C02-96CF-BF2280F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711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>
            <a:extLst xmlns:a="http://schemas.openxmlformats.org/drawingml/2006/main">
              <a:ext uri="{FF2B5EF4-FFF2-40B4-BE49-F238E27FC236}">
                <a16:creationId xmlns:a16="http://schemas.microsoft.com/office/drawing/2014/main" id="{3AAA5307-1076-4401-9990-D35403A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1188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>
            <a:extLst xmlns:a="http://schemas.openxmlformats.org/drawingml/2006/main">
              <a:ext uri="{FF2B5EF4-FFF2-40B4-BE49-F238E27FC236}">
                <a16:creationId xmlns:a16="http://schemas.microsoft.com/office/drawing/2014/main" id="{A0C7A3D8-7A4F-43B6-85EA-F243300E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480795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Day 58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6">
            <a:extLst xmlns:a="http://schemas.openxmlformats.org/drawingml/2006/main">
              <a:ext uri="{FF2B5EF4-FFF2-40B4-BE49-F238E27FC236}">
                <a16:creationId xmlns:a16="http://schemas.microsoft.com/office/drawing/2014/main" id="{6F0D105E-5602-48B9-A5CF-7327A18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71320"/>
            <a:ext cx="3100197" cy="1889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A planned milestone is overdue with no blocker recorded.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The agent asks whether to adjust the plan</a:t>
            </a:r>
            <a:r>
              <a:rPr sz="1800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6">
            <a:extLst xmlns:a="http://schemas.openxmlformats.org/drawingml/2006/main">
              <a:ext uri="{FF2B5EF4-FFF2-40B4-BE49-F238E27FC236}">
                <a16:creationId xmlns:a16="http://schemas.microsoft.com/office/drawing/2014/main" id="{2EB462DE-6879-4D83-95F4-D2D6719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750990"/>
            <a:ext cx="89922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Day 90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6">
            <a:extLst xmlns:a="http://schemas.openxmlformats.org/drawingml/2006/main">
              <a:ext uri="{FF2B5EF4-FFF2-40B4-BE49-F238E27FC236}">
                <a16:creationId xmlns:a16="http://schemas.microsoft.com/office/drawing/2014/main" id="{21C9CE50-4447-4796-9F05-2CBE256E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41515"/>
            <a:ext cx="3100197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The agent assembles evidence for the readiness review. Her manager decides.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6">
            <a:extLst xmlns:a="http://schemas.openxmlformats.org/drawingml/2006/main">
              <a:ext uri="{FF2B5EF4-FFF2-40B4-BE49-F238E27FC236}">
                <a16:creationId xmlns:a16="http://schemas.microsoft.com/office/drawing/2014/main" id="{6039DE68-2089-4788-84BE-9C7C465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547114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>
            <a:extLst xmlns:a="http://schemas.openxmlformats.org/drawingml/2006/main">
              <a:ext uri="{FF2B5EF4-FFF2-40B4-BE49-F238E27FC236}">
                <a16:creationId xmlns:a16="http://schemas.microsoft.com/office/drawing/2014/main" id="{6BE02F3D-E5CC-4B63-9DE5-5B540A52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>
            <a:extLst xmlns:a="http://schemas.openxmlformats.org/drawingml/2006/main">
              <a:ext uri="{FF2B5EF4-FFF2-40B4-BE49-F238E27FC236}">
                <a16:creationId xmlns:a16="http://schemas.microsoft.com/office/drawing/2014/main" id="{3AD78FA5-F878-4835-B436-A0A1094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>
            <a:extLst xmlns:a="http://schemas.openxmlformats.org/drawingml/2006/main">
              <a:ext uri="{FF2B5EF4-FFF2-40B4-BE49-F238E27FC236}">
                <a16:creationId xmlns:a16="http://schemas.microsoft.com/office/drawing/2014/main" id="{DA25A885-E0FD-4A9D-8092-4E3A4C9F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>
            <a:extLst xmlns:a="http://schemas.openxmlformats.org/drawingml/2006/main">
              <a:ext uri="{FF2B5EF4-FFF2-40B4-BE49-F238E27FC236}">
                <a16:creationId xmlns:a16="http://schemas.microsoft.com/office/drawing/2014/main" id="{5635DC72-9FD0-4614-8893-7B2D07A9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>
            <a:extLst xmlns:a="http://schemas.openxmlformats.org/drawingml/2006/main">
              <a:ext uri="{FF2B5EF4-FFF2-40B4-BE49-F238E27FC236}">
                <a16:creationId xmlns:a16="http://schemas.microsoft.com/office/drawing/2014/main" id="{CAD571CF-AC4C-4914-8587-C3FF147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4262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>
            <a:extLst xmlns:a="http://schemas.openxmlformats.org/drawingml/2006/main">
              <a:ext uri="{FF2B5EF4-FFF2-40B4-BE49-F238E27FC236}">
                <a16:creationId xmlns:a16="http://schemas.microsoft.com/office/drawing/2014/main" id="{836FAB98-6E60-428A-A664-2B06D12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4262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>
            <a:extLst xmlns:a="http://schemas.openxmlformats.org/drawingml/2006/main">
              <a:ext uri="{FF2B5EF4-FFF2-40B4-BE49-F238E27FC236}">
                <a16:creationId xmlns:a16="http://schemas.microsoft.com/office/drawing/2014/main" id="{99963D08-C313-46E9-A06E-912D4070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>
            <a:extLst xmlns:a="http://schemas.openxmlformats.org/drawingml/2006/main">
              <a:ext uri="{FF2B5EF4-FFF2-40B4-BE49-F238E27FC236}">
                <a16:creationId xmlns:a16="http://schemas.microsoft.com/office/drawing/2014/main" id="{8C9C454B-01CC-422C-9F17-7D2330B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84262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>
            <a:extLst xmlns:a="http://schemas.openxmlformats.org/drawingml/2006/main">
              <a:ext uri="{FF2B5EF4-FFF2-40B4-BE49-F238E27FC236}">
                <a16:creationId xmlns:a16="http://schemas.microsoft.com/office/drawing/2014/main" id="{56906778-AE13-48F0-9663-B8FD915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86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>
            <a:extLst xmlns:a="http://schemas.openxmlformats.org/drawingml/2006/main">
              <a:ext uri="{FF2B5EF4-FFF2-40B4-BE49-F238E27FC236}">
                <a16:creationId xmlns:a16="http://schemas.microsoft.com/office/drawing/2014/main" id="{0B143313-5DFD-4BC7-9B1F-95B7437E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19295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>
            <a:extLst xmlns:a="http://schemas.openxmlformats.org/drawingml/2006/main">
              <a:ext uri="{FF2B5EF4-FFF2-40B4-BE49-F238E27FC236}">
                <a16:creationId xmlns:a16="http://schemas.microsoft.com/office/drawing/2014/main" id="{D0C7CCC3-4D8A-4C82-A79E-BFE66B2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38370"/>
            <a:ext cx="1062516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75"/>
              <a:buFont typeface="IBM Plex Sans"/>
              <a:buNone/>
            </a:pPr>
            <a:r>
              <a:rPr sz="1875" b="1" i="0" u="none" cap="none">
                <a:solidFill>
                  <a:srgbClr val="EE164F"/>
                </a:solidFill>
                <a:latin typeface="IBM Plex Sans"/>
                <a:ea typeface="IBM Plex Sans"/>
                <a:cs typeface="IBM Plex Sans"/>
              </a:rPr>
              <a:t>People Ops did not need to intervene.</a:t>
            </a: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The onboarding appeared as one green row.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6">
            <a:extLst xmlns:a="http://schemas.openxmlformats.org/drawingml/2006/main">
              <a:ext uri="{FF2B5EF4-FFF2-40B4-BE49-F238E27FC236}">
                <a16:creationId xmlns:a16="http://schemas.microsoft.com/office/drawing/2014/main" id="{D965188D-861A-48A9-A654-560A5C4E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324" y="9667875"/>
            <a:ext cx="397817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>
            <a:hlinkClick xmlns:r="http://schemas.openxmlformats.org/officeDocument/2006/relationships" xmlns:a="http://schemas.openxmlformats.org/drawingml/2006/main" r:id="R5828514f26a04ec4"/>
            <a:extLst xmlns:a="http://schemas.openxmlformats.org/drawingml/2006/main">
              <a:ext uri="{FF2B5EF4-FFF2-40B4-BE49-F238E27FC236}">
                <a16:creationId xmlns:a16="http://schemas.microsoft.com/office/drawing/2014/main" id="{DC1F5A19-A214-4855-8AAB-B3B12889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324" y="9347895"/>
            <a:ext cx="4375993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sng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  <a:hlinkClick xmlns:r="http://schemas.openxmlformats.org/officeDocument/2006/relationships" r:id="R76ed19d3568d4651"/>
              </a:rPr>
              <a:t>Open the Bob Beat prototype 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8679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p7">
            <a:extLst xmlns:a="http://schemas.openxmlformats.org/drawingml/2006/main">
              <a:ext uri="{FF2B5EF4-FFF2-40B4-BE49-F238E27FC236}">
                <a16:creationId xmlns:a16="http://schemas.microsoft.com/office/drawing/2014/main" id="{1F129D01-19BF-4C2D-B834-D93DFB7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117351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V1 scope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7">
            <a:extLst xmlns:a="http://schemas.openxmlformats.org/drawingml/2006/main">
              <a:ext uri="{FF2B5EF4-FFF2-40B4-BE49-F238E27FC236}">
                <a16:creationId xmlns:a16="http://schemas.microsoft.com/office/drawing/2014/main" id="{73F3F2CE-4C45-437D-8176-F7A82BC7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06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7">
            <a:extLst xmlns:a="http://schemas.openxmlformats.org/drawingml/2006/main">
              <a:ext uri="{FF2B5EF4-FFF2-40B4-BE49-F238E27FC236}">
                <a16:creationId xmlns:a16="http://schemas.microsoft.com/office/drawing/2014/main" id="{5587E785-7079-4EA5-96CE-43F05520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47775"/>
            <a:ext cx="16874490" cy="126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34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4200"/>
              <a:buFont typeface="Sora"/>
              <a:buNone/>
            </a:pPr>
            <a:r>
              <a:rPr sz="42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V1 covers preboarding through day 14. The architecture supports the full 90-day journey.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7">
            <a:extLst xmlns:a="http://schemas.openxmlformats.org/drawingml/2006/main">
              <a:ext uri="{FF2B5EF4-FFF2-40B4-BE49-F238E27FC236}">
                <a16:creationId xmlns:a16="http://schemas.microsoft.com/office/drawing/2014/main" id="{0BFF9A04-6370-49C2-9B96-AD65148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656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>
            <a:extLst xmlns:a="http://schemas.openxmlformats.org/drawingml/2006/main">
              <a:ext uri="{FF2B5EF4-FFF2-40B4-BE49-F238E27FC236}">
                <a16:creationId xmlns:a16="http://schemas.microsoft.com/office/drawing/2014/main" id="{9C0A4F40-E46B-4995-9245-2A618E4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656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>
            <a:extLst xmlns:a="http://schemas.openxmlformats.org/drawingml/2006/main">
              <a:ext uri="{FF2B5EF4-FFF2-40B4-BE49-F238E27FC236}">
                <a16:creationId xmlns:a16="http://schemas.microsoft.com/office/drawing/2014/main" id="{48CC5C1B-1A86-4319-AE96-631CEA33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2715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In v1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7">
            <a:extLst xmlns:a="http://schemas.openxmlformats.org/drawingml/2006/main">
              <a:ext uri="{FF2B5EF4-FFF2-40B4-BE49-F238E27FC236}">
                <a16:creationId xmlns:a16="http://schemas.microsoft.com/office/drawing/2014/main" id="{1AF97158-BCFD-4FA6-8A2B-D5FBC82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1656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>
            <a:extLst xmlns:a="http://schemas.openxmlformats.org/drawingml/2006/main">
              <a:ext uri="{FF2B5EF4-FFF2-40B4-BE49-F238E27FC236}">
                <a16:creationId xmlns:a16="http://schemas.microsoft.com/office/drawing/2014/main" id="{35EA7A57-9251-4501-A25E-61F6023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12715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Out of V1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7">
            <a:extLst xmlns:a="http://schemas.openxmlformats.org/drawingml/2006/main">
              <a:ext uri="{FF2B5EF4-FFF2-40B4-BE49-F238E27FC236}">
                <a16:creationId xmlns:a16="http://schemas.microsoft.com/office/drawing/2014/main" id="{C114209E-8B97-4FE8-A153-DE4D5E95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726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>
            <a:extLst xmlns:a="http://schemas.openxmlformats.org/drawingml/2006/main">
              <a:ext uri="{FF2B5EF4-FFF2-40B4-BE49-F238E27FC236}">
                <a16:creationId xmlns:a16="http://schemas.microsoft.com/office/drawing/2014/main" id="{51DC051C-B248-48FE-B7DA-0A906019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1810"/>
            <a:ext cx="198120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Shipped span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3F884C74-AD15-416D-A82E-27EE95F8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14726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>
            <a:extLst xmlns:a="http://schemas.openxmlformats.org/drawingml/2006/main">
              <a:ext uri="{FF2B5EF4-FFF2-40B4-BE49-F238E27FC236}">
                <a16:creationId xmlns:a16="http://schemas.microsoft.com/office/drawing/2014/main" id="{CB463621-93FC-4FFB-B081-E954EEC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11810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Preboarding → day 14, where blockers are densest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7">
            <a:extLst xmlns:a="http://schemas.openxmlformats.org/drawingml/2006/main">
              <a:ext uri="{FF2B5EF4-FFF2-40B4-BE49-F238E27FC236}">
                <a16:creationId xmlns:a16="http://schemas.microsoft.com/office/drawing/2014/main" id="{9D049A12-2A87-4858-96DC-BAA5B77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14726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682D92B8-1E5A-4681-BDEB-C4C4286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11810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Day 14–90: plan, cadence, and guidance only; action-taking expands after proof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214EFE6F-9666-4654-BA03-9E4E7C8E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2891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256C6471-FBF4-4082-AD3B-E0CA0513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9976"/>
            <a:ext cx="198120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Depth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74BD7439-169F-4455-A75B-4A9581D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289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18CE33B1-4AC5-4D9F-87CF-6A02F5E1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09976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Detect missed Bob-owned actions, contact the owner, escalate if unresolved, measure time-to-clear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C22111E7-55B4-406A-8D5F-75A2CA5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1289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700634D2-03E0-45FE-AE6F-B2BCDFE5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09976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Readiness scoring, competency gates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7">
            <a:extLst xmlns:a="http://schemas.openxmlformats.org/drawingml/2006/main">
              <a:ext uri="{FF2B5EF4-FFF2-40B4-BE49-F238E27FC236}">
                <a16:creationId xmlns:a16="http://schemas.microsoft.com/office/drawing/2014/main" id="{C6A4FB9C-F331-4C48-A44C-70DC83E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2461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>
            <a:extLst xmlns:a="http://schemas.openxmlformats.org/drawingml/2006/main">
              <a:ext uri="{FF2B5EF4-FFF2-40B4-BE49-F238E27FC236}">
                <a16:creationId xmlns:a16="http://schemas.microsoft.com/office/drawing/2014/main" id="{FBF11B0E-ADF5-4195-876A-CAAE7217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8141"/>
            <a:ext cx="1981200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Users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7">
            <a:extLst xmlns:a="http://schemas.openxmlformats.org/drawingml/2006/main">
              <a:ext uri="{FF2B5EF4-FFF2-40B4-BE49-F238E27FC236}">
                <a16:creationId xmlns:a16="http://schemas.microsoft.com/office/drawing/2014/main" id="{D17CAA95-8A16-45FE-8426-90059C7B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0246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>
            <a:extLst xmlns:a="http://schemas.openxmlformats.org/drawingml/2006/main">
              <a:ext uri="{FF2B5EF4-FFF2-40B4-BE49-F238E27FC236}">
                <a16:creationId xmlns:a16="http://schemas.microsoft.com/office/drawing/2014/main" id="{1C054717-45F5-4611-B61F-A2874B1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8141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New hires, managers, buddies, and People Ops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7">
            <a:extLst xmlns:a="http://schemas.openxmlformats.org/drawingml/2006/main">
              <a:ext uri="{FF2B5EF4-FFF2-40B4-BE49-F238E27FC236}">
                <a16:creationId xmlns:a16="http://schemas.microsoft.com/office/drawing/2014/main" id="{25B4FAEF-4459-4800-A50D-992F71D3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0246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>
            <a:extLst xmlns:a="http://schemas.openxmlformats.org/drawingml/2006/main">
              <a:ext uri="{FF2B5EF4-FFF2-40B4-BE49-F238E27FC236}">
                <a16:creationId xmlns:a16="http://schemas.microsoft.com/office/drawing/2014/main" id="{7FFD0B76-9A6A-41F0-ADA3-DC65A4D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08141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IT and service owners as direct agent recipients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7">
            <a:extLst xmlns:a="http://schemas.openxmlformats.org/drawingml/2006/main">
              <a:ext uri="{FF2B5EF4-FFF2-40B4-BE49-F238E27FC236}">
                <a16:creationId xmlns:a16="http://schemas.microsoft.com/office/drawing/2014/main" id="{CB549AED-399F-4F93-8880-FB5B5C61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92031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>
            <a:extLst xmlns:a="http://schemas.openxmlformats.org/drawingml/2006/main">
              <a:ext uri="{FF2B5EF4-FFF2-40B4-BE49-F238E27FC236}">
                <a16:creationId xmlns:a16="http://schemas.microsoft.com/office/drawing/2014/main" id="{73D168B6-F903-4B3D-BF96-28B5328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97711"/>
            <a:ext cx="1981200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Channels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7">
            <a:extLst xmlns:a="http://schemas.openxmlformats.org/drawingml/2006/main">
              <a:ext uri="{FF2B5EF4-FFF2-40B4-BE49-F238E27FC236}">
                <a16:creationId xmlns:a16="http://schemas.microsoft.com/office/drawing/2014/main" id="{C7FF19DC-D993-4AEF-8686-D0F4A4B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9203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>
            <a:extLst xmlns:a="http://schemas.openxmlformats.org/drawingml/2006/main">
              <a:ext uri="{FF2B5EF4-FFF2-40B4-BE49-F238E27FC236}">
                <a16:creationId xmlns:a16="http://schemas.microsoft.com/office/drawing/2014/main" id="{88B8DFE1-C184-402B-8FB8-50EF46D6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97711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One work channel: Slack or Teams; email fallback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7">
            <a:extLst xmlns:a="http://schemas.openxmlformats.org/drawingml/2006/main">
              <a:ext uri="{FF2B5EF4-FFF2-40B4-BE49-F238E27FC236}">
                <a16:creationId xmlns:a16="http://schemas.microsoft.com/office/drawing/2014/main" id="{F84486A2-7583-481A-B273-3658A1A2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892031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>
            <a:extLst xmlns:a="http://schemas.openxmlformats.org/drawingml/2006/main">
              <a:ext uri="{FF2B5EF4-FFF2-40B4-BE49-F238E27FC236}">
                <a16:creationId xmlns:a16="http://schemas.microsoft.com/office/drawing/2014/main" id="{5E6252B9-7510-4DD2-91FE-790CE85F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97711"/>
            <a:ext cx="710298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WhatsApp, new-hire portal, native mobile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7">
            <a:extLst xmlns:a="http://schemas.openxmlformats.org/drawingml/2006/main">
              <a:ext uri="{FF2B5EF4-FFF2-40B4-BE49-F238E27FC236}">
                <a16:creationId xmlns:a16="http://schemas.microsoft.com/office/drawing/2014/main" id="{250CE37E-C3B6-488A-9308-41E3F771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90196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>
            <a:extLst xmlns:a="http://schemas.openxmlformats.org/drawingml/2006/main">
              <a:ext uri="{FF2B5EF4-FFF2-40B4-BE49-F238E27FC236}">
                <a16:creationId xmlns:a16="http://schemas.microsoft.com/office/drawing/2014/main" id="{59BA32A8-5D80-4EB1-8ECC-D164BBE3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87281"/>
            <a:ext cx="198120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Bob domains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Google Shape;291;p7">
            <a:extLst xmlns:a="http://schemas.openxmlformats.org/drawingml/2006/main">
              <a:ext uri="{FF2B5EF4-FFF2-40B4-BE49-F238E27FC236}">
                <a16:creationId xmlns:a16="http://schemas.microsoft.com/office/drawing/2014/main" id="{12054D50-03A3-4E2D-8353-898C7AA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690196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>
            <a:extLst xmlns:a="http://schemas.openxmlformats.org/drawingml/2006/main">
              <a:ext uri="{FF2B5EF4-FFF2-40B4-BE49-F238E27FC236}">
                <a16:creationId xmlns:a16="http://schemas.microsoft.com/office/drawing/2014/main" id="{668B3EA0-C71D-4C73-8A82-974C6EE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87281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Onboarding tasks and workflows, org data, calendar state, recruiting handoff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3" name="Google Shape;293;p7">
            <a:extLst xmlns:a="http://schemas.openxmlformats.org/drawingml/2006/main">
              <a:ext uri="{FF2B5EF4-FFF2-40B4-BE49-F238E27FC236}">
                <a16:creationId xmlns:a16="http://schemas.microsoft.com/office/drawing/2014/main" id="{9E3415E1-16F4-4069-B075-7696DD83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90196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>
            <a:extLst xmlns:a="http://schemas.openxmlformats.org/drawingml/2006/main">
              <a:ext uri="{FF2B5EF4-FFF2-40B4-BE49-F238E27FC236}">
                <a16:creationId xmlns:a16="http://schemas.microsoft.com/office/drawing/2014/main" id="{D85F515A-BCB5-4655-8B09-DC78F8FC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87281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Write access to Performance, Compensation, and Payroll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Google Shape;295;p7">
            <a:extLst xmlns:a="http://schemas.openxmlformats.org/drawingml/2006/main">
              <a:ext uri="{FF2B5EF4-FFF2-40B4-BE49-F238E27FC236}">
                <a16:creationId xmlns:a16="http://schemas.microsoft.com/office/drawing/2014/main" id="{DA98FFE2-6013-4B9C-90EA-FA77C308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85446"/>
            <a:ext cx="198120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Segment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6" name="Google Shape;296;p7">
            <a:extLst xmlns:a="http://schemas.openxmlformats.org/drawingml/2006/main">
              <a:ext uri="{FF2B5EF4-FFF2-40B4-BE49-F238E27FC236}">
                <a16:creationId xmlns:a16="http://schemas.microsoft.com/office/drawing/2014/main" id="{6B84BEF1-D8DF-4518-8D12-E8844DE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785446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Desk-based individual contributors joining an existing team; customers with ~200–2,000 employees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7">
            <a:extLst xmlns:a="http://schemas.openxmlformats.org/drawingml/2006/main">
              <a:ext uri="{FF2B5EF4-FFF2-40B4-BE49-F238E27FC236}">
                <a16:creationId xmlns:a16="http://schemas.microsoft.com/office/drawing/2014/main" id="{CD669398-ECA0-49E1-85E6-ED9AA29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85446"/>
            <a:ext cx="7102983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Manager onboarding and high-volume shift work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8" name="Google Shape;298;p7">
            <a:extLst xmlns:a="http://schemas.openxmlformats.org/drawingml/2006/main">
              <a:ext uri="{FF2B5EF4-FFF2-40B4-BE49-F238E27FC236}">
                <a16:creationId xmlns:a16="http://schemas.microsoft.com/office/drawing/2014/main" id="{54D1BFAE-2445-4896-84A8-500EDC5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59962"/>
            <a:ext cx="16874400" cy="7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75"/>
              <a:buFont typeface="IBM Plex Sans"/>
              <a:buNone/>
            </a:pPr>
            <a:r>
              <a:rPr sz="1875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V1 starts with signals Bob already owns; integrations expand the agent’s field of view after the core loop is proven.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7">
            <a:extLst xmlns:a="http://schemas.openxmlformats.org/drawingml/2006/main">
              <a:ext uri="{FF2B5EF4-FFF2-40B4-BE49-F238E27FC236}">
                <a16:creationId xmlns:a16="http://schemas.microsoft.com/office/drawing/2014/main" id="{C0AAAE02-95DE-4CDD-AB1B-79CABA52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7934"/>
            <a:ext cx="163830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>
            <a:extLst xmlns:a="http://schemas.openxmlformats.org/drawingml/2006/main">
              <a:ext uri="{FF2B5EF4-FFF2-40B4-BE49-F238E27FC236}">
                <a16:creationId xmlns:a16="http://schemas.microsoft.com/office/drawing/2014/main" id="{337358E3-8C9D-45EE-87DB-EE1C270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28396"/>
            <a:ext cx="19050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>
            <a:extLst xmlns:a="http://schemas.openxmlformats.org/drawingml/2006/main">
              <a:ext uri="{FF2B5EF4-FFF2-40B4-BE49-F238E27FC236}">
                <a16:creationId xmlns:a16="http://schemas.microsoft.com/office/drawing/2014/main" id="{8773FA5A-6ECE-4F22-96C4-220A91C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528396"/>
            <a:ext cx="68961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>
            <a:extLst xmlns:a="http://schemas.openxmlformats.org/drawingml/2006/main">
              <a:ext uri="{FF2B5EF4-FFF2-40B4-BE49-F238E27FC236}">
                <a16:creationId xmlns:a16="http://schemas.microsoft.com/office/drawing/2014/main" id="{C809C019-8A9F-4B12-A640-D6EFD420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528396"/>
            <a:ext cx="68961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>
            <a:extLst xmlns:a="http://schemas.openxmlformats.org/drawingml/2006/main">
              <a:ext uri="{FF2B5EF4-FFF2-40B4-BE49-F238E27FC236}">
                <a16:creationId xmlns:a16="http://schemas.microsoft.com/office/drawing/2014/main" id="{DD82B33F-8876-4CFC-B466-216E00B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3646"/>
            <a:ext cx="19812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Signals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7">
            <a:extLst xmlns:a="http://schemas.openxmlformats.org/drawingml/2006/main">
              <a:ext uri="{FF2B5EF4-FFF2-40B4-BE49-F238E27FC236}">
                <a16:creationId xmlns:a16="http://schemas.microsoft.com/office/drawing/2014/main" id="{1B89487C-21CD-4F2E-9E5D-03D3102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623646"/>
            <a:ext cx="71031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Expected onboarding actions, owners, deadlines, calendar events, workflow state, manager and buddy actions</a:t>
            </a:r>
            <a:endParaRPr sz="1800" b="1" i="0" u="none" cap="none">
              <a:solidFill>
                <a:srgbClr val="EE16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7">
            <a:extLst xmlns:a="http://schemas.openxmlformats.org/drawingml/2006/main">
              <a:ext uri="{FF2B5EF4-FFF2-40B4-BE49-F238E27FC236}">
                <a16:creationId xmlns:a16="http://schemas.microsoft.com/office/drawing/2014/main" id="{CC7C4A41-A100-45E4-BB59-14119A2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623646"/>
            <a:ext cx="7103100" cy="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Sans"/>
              <a:buNone/>
            </a:pPr>
            <a:r>
              <a:rPr sz="1800">
                <a:solidFill>
                  <a:srgbClr val="8A8AA3"/>
                </a:solidFill>
                <a:latin typeface="IBM Plex Sans"/>
                <a:ea typeface="IBM Plex Sans"/>
                <a:cs typeface="IBM Plex Sans"/>
              </a:rPr>
              <a:t>Access usage, first contribution, work-system milestones, and Jira/GitHub/CRM events</a:t>
            </a:r>
            <a:endParaRPr sz="1800" b="0" i="0" u="none" cap="none">
              <a:solidFill>
                <a:srgbClr val="EE164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274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8">
            <a:extLst xmlns:a="http://schemas.openxmlformats.org/drawingml/2006/main">
              <a:ext uri="{FF2B5EF4-FFF2-40B4-BE49-F238E27FC236}">
                <a16:creationId xmlns:a16="http://schemas.microsoft.com/office/drawing/2014/main" id="{DE946FF9-4B49-46BC-B911-442320A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181056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The platform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8">
            <a:extLst xmlns:a="http://schemas.openxmlformats.org/drawingml/2006/main">
              <a:ext uri="{FF2B5EF4-FFF2-40B4-BE49-F238E27FC236}">
                <a16:creationId xmlns:a16="http://schemas.microsoft.com/office/drawing/2014/main" id="{B8109875-9036-4F7C-91C7-AD909FC0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07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p8">
            <a:extLst xmlns:a="http://schemas.openxmlformats.org/drawingml/2006/main">
              <a:ext uri="{FF2B5EF4-FFF2-40B4-BE49-F238E27FC236}">
                <a16:creationId xmlns:a16="http://schemas.microsoft.com/office/drawing/2014/main" id="{124CCD7C-2721-4DA7-A8CD-5882C2A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5304770" cy="117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29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3900"/>
              <a:buFont typeface="Sora"/>
              <a:buNone/>
            </a:pPr>
            <a:r>
              <a:rPr sz="39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Build the platform by shipping a real product, not designing it in the abstract.</a:t>
            </a:r>
            <a:endParaRPr sz="3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8">
            <a:extLst xmlns:a="http://schemas.openxmlformats.org/drawingml/2006/main">
              <a:ext uri="{FF2B5EF4-FFF2-40B4-BE49-F238E27FC236}">
                <a16:creationId xmlns:a16="http://schemas.microsoft.com/office/drawing/2014/main" id="{9A22E3E1-CA38-4545-AFF5-1FCA060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2155"/>
            <a:ext cx="1471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Each Bob Beat release adds reusable platform capability. The next agent starts with what onboarding proved in production.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Google Shape;315;p8">
            <a:extLst xmlns:a="http://schemas.openxmlformats.org/drawingml/2006/main">
              <a:ext uri="{FF2B5EF4-FFF2-40B4-BE49-F238E27FC236}">
                <a16:creationId xmlns:a16="http://schemas.microsoft.com/office/drawing/2014/main" id="{BA2D7437-5CD1-46FF-9BBC-2316C1F3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01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>
            <a:extLst xmlns:a="http://schemas.openxmlformats.org/drawingml/2006/main">
              <a:ext uri="{FF2B5EF4-FFF2-40B4-BE49-F238E27FC236}">
                <a16:creationId xmlns:a16="http://schemas.microsoft.com/office/drawing/2014/main" id="{7623F534-66A9-46EE-A179-4348B42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76601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>
            <a:extLst xmlns:a="http://schemas.openxmlformats.org/drawingml/2006/main">
              <a:ext uri="{FF2B5EF4-FFF2-40B4-BE49-F238E27FC236}">
                <a16:creationId xmlns:a16="http://schemas.microsoft.com/office/drawing/2014/main" id="{2F969275-C714-4D50-BF0B-4CF92BD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53705"/>
            <a:ext cx="4656810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V1 · Notice and act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8" name="Google Shape;318;p8">
            <a:extLst xmlns:a="http://schemas.openxmlformats.org/drawingml/2006/main">
              <a:ext uri="{FF2B5EF4-FFF2-40B4-BE49-F238E27FC236}">
                <a16:creationId xmlns:a16="http://schemas.microsoft.com/office/drawing/2014/main" id="{47F76A46-72D8-4BC3-AA32-FFCAE554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3876601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>
            <a:extLst xmlns:a="http://schemas.openxmlformats.org/drawingml/2006/main">
              <a:ext uri="{FF2B5EF4-FFF2-40B4-BE49-F238E27FC236}">
                <a16:creationId xmlns:a16="http://schemas.microsoft.com/office/drawing/2014/main" id="{52E2511C-0A11-4271-B1A1-341D2A7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3453705"/>
            <a:ext cx="4656810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V2 · Prove 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0" name="Google Shape;320;p8">
            <a:extLst xmlns:a="http://schemas.openxmlformats.org/drawingml/2006/main">
              <a:ext uri="{FF2B5EF4-FFF2-40B4-BE49-F238E27FC236}">
                <a16:creationId xmlns:a16="http://schemas.microsoft.com/office/drawing/2014/main" id="{9328F1C3-D956-4C7D-B406-14B85C93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3876601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>
            <a:extLst xmlns:a="http://schemas.openxmlformats.org/drawingml/2006/main">
              <a:ext uri="{FF2B5EF4-FFF2-40B4-BE49-F238E27FC236}">
                <a16:creationId xmlns:a16="http://schemas.microsoft.com/office/drawing/2014/main" id="{9F3A6289-2BC9-4089-AB03-C8A04386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3453705"/>
            <a:ext cx="4656810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V3 · Reuse 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8">
            <a:extLst xmlns:a="http://schemas.openxmlformats.org/drawingml/2006/main">
              <a:ext uri="{FF2B5EF4-FFF2-40B4-BE49-F238E27FC236}">
                <a16:creationId xmlns:a16="http://schemas.microsoft.com/office/drawing/2014/main" id="{CEF5B446-FE7E-4BDE-BE91-41DCE55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3406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>
            <a:extLst xmlns:a="http://schemas.openxmlformats.org/drawingml/2006/main">
              <a:ext uri="{FF2B5EF4-FFF2-40B4-BE49-F238E27FC236}">
                <a16:creationId xmlns:a16="http://schemas.microsoft.com/office/drawing/2014/main" id="{1F78C116-D840-43F7-9D24-95E00A97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576"/>
            <a:ext cx="1981200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Bob Beat ships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4" name="Google Shape;324;p8">
            <a:extLst xmlns:a="http://schemas.openxmlformats.org/drawingml/2006/main">
              <a:ext uri="{FF2B5EF4-FFF2-40B4-BE49-F238E27FC236}">
                <a16:creationId xmlns:a16="http://schemas.microsoft.com/office/drawing/2014/main" id="{0F3A9F6E-C458-43DD-8981-58272B3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3406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>
            <a:extLst xmlns:a="http://schemas.openxmlformats.org/drawingml/2006/main">
              <a:ext uri="{FF2B5EF4-FFF2-40B4-BE49-F238E27FC236}">
                <a16:creationId xmlns:a16="http://schemas.microsoft.com/office/drawing/2014/main" id="{F7E01CEA-1520-42A6-9120-110C18C1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576"/>
            <a:ext cx="4656810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Detect missed Bob-owned actions, contact owners, escalate unresolved blockers, and measure time-to-clear.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p8">
            <a:extLst xmlns:a="http://schemas.openxmlformats.org/drawingml/2006/main">
              <a:ext uri="{FF2B5EF4-FFF2-40B4-BE49-F238E27FC236}">
                <a16:creationId xmlns:a16="http://schemas.microsoft.com/office/drawing/2014/main" id="{9F3C6DA3-0257-404B-964D-DC0CFE8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5463406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>
            <a:extLst xmlns:a="http://schemas.openxmlformats.org/drawingml/2006/main">
              <a:ext uri="{FF2B5EF4-FFF2-40B4-BE49-F238E27FC236}">
                <a16:creationId xmlns:a16="http://schemas.microsoft.com/office/drawing/2014/main" id="{39F48309-7CB1-40EA-A9A1-39B073E7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4057576"/>
            <a:ext cx="4656810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Extend action-taking to day 90; add readiness evidence and cited document Q&amp;A behind the eval harness.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8" name="Google Shape;328;p8">
            <a:extLst xmlns:a="http://schemas.openxmlformats.org/drawingml/2006/main">
              <a:ext uri="{FF2B5EF4-FFF2-40B4-BE49-F238E27FC236}">
                <a16:creationId xmlns:a16="http://schemas.microsoft.com/office/drawing/2014/main" id="{E5FE990B-AB6B-409A-8520-9BBF950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5463406"/>
            <a:ext cx="452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>
            <a:extLst xmlns:a="http://schemas.openxmlformats.org/drawingml/2006/main">
              <a:ext uri="{FF2B5EF4-FFF2-40B4-BE49-F238E27FC236}">
                <a16:creationId xmlns:a16="http://schemas.microsoft.com/office/drawing/2014/main" id="{EA2390C3-3F23-4840-97CA-EA70181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4057576"/>
            <a:ext cx="4656810" cy="127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Extend the cadence to month six and launch the first non-onboarding transition: internal mobility.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Google Shape;330;p8">
            <a:extLst xmlns:a="http://schemas.openxmlformats.org/drawingml/2006/main">
              <a:ext uri="{FF2B5EF4-FFF2-40B4-BE49-F238E27FC236}">
                <a16:creationId xmlns:a16="http://schemas.microsoft.com/office/drawing/2014/main" id="{A07E0D63-EA60-4D01-96EC-45DACC8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44381"/>
            <a:ext cx="1981200" cy="2042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The platform gains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1" name="Google Shape;331;p8">
            <a:extLst xmlns:a="http://schemas.openxmlformats.org/drawingml/2006/main">
              <a:ext uri="{FF2B5EF4-FFF2-40B4-BE49-F238E27FC236}">
                <a16:creationId xmlns:a16="http://schemas.microsoft.com/office/drawing/2014/main" id="{5C01AE79-B525-47CD-9391-492C7F3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44420"/>
            <a:ext cx="465681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Missed-action detection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finds expected actions that did not happen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8">
            <a:extLst xmlns:a="http://schemas.openxmlformats.org/drawingml/2006/main">
              <a:ext uri="{FF2B5EF4-FFF2-40B4-BE49-F238E27FC236}">
                <a16:creationId xmlns:a16="http://schemas.microsoft.com/office/drawing/2014/main" id="{4C9F16C0-D80C-4C15-8554-10877728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414040"/>
            <a:ext cx="497329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Tool registry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with scopes and audit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8">
            <a:extLst xmlns:a="http://schemas.openxmlformats.org/drawingml/2006/main">
              <a:ext uri="{FF2B5EF4-FFF2-40B4-BE49-F238E27FC236}">
                <a16:creationId xmlns:a16="http://schemas.microsoft.com/office/drawing/2014/main" id="{A9132038-3FE3-4A62-A519-1959F14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875050"/>
            <a:ext cx="497329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Customer-scoped context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p8">
            <a:extLst xmlns:a="http://schemas.openxmlformats.org/drawingml/2006/main">
              <a:ext uri="{FF2B5EF4-FFF2-40B4-BE49-F238E27FC236}">
                <a16:creationId xmlns:a16="http://schemas.microsoft.com/office/drawing/2014/main" id="{0CE1AFD7-430A-4F26-B711-7AFD317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336060"/>
            <a:ext cx="497329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Customer-level autonomy controls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8">
            <a:extLst xmlns:a="http://schemas.openxmlformats.org/drawingml/2006/main">
              <a:ext uri="{FF2B5EF4-FFF2-40B4-BE49-F238E27FC236}">
                <a16:creationId xmlns:a16="http://schemas.microsoft.com/office/drawing/2014/main" id="{2B69C56C-5B11-4096-80A2-39CFC9F9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5644420"/>
            <a:ext cx="465681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Propose → review → approve → execute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, with edit capture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" name="Google Shape;336;p8">
            <a:extLst xmlns:a="http://schemas.openxmlformats.org/drawingml/2006/main">
              <a:ext uri="{FF2B5EF4-FFF2-40B4-BE49-F238E27FC236}">
                <a16:creationId xmlns:a16="http://schemas.microsoft.com/office/drawing/2014/main" id="{B6F60E88-60ED-490D-A8D0-C5452FD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6414040"/>
            <a:ext cx="465681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Tracing and evaluations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for every agent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8">
            <a:extLst xmlns:a="http://schemas.openxmlformats.org/drawingml/2006/main">
              <a:ext uri="{FF2B5EF4-FFF2-40B4-BE49-F238E27FC236}">
                <a16:creationId xmlns:a16="http://schemas.microsoft.com/office/drawing/2014/main" id="{12CF80D1-15A3-417F-84CA-64882023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75" y="7183660"/>
            <a:ext cx="465681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Permission-aware retrieval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with citations and refusal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8" name="Google Shape;338;p8">
            <a:extLst xmlns:a="http://schemas.openxmlformats.org/drawingml/2006/main">
              <a:ext uri="{FF2B5EF4-FFF2-40B4-BE49-F238E27FC236}">
                <a16:creationId xmlns:a16="http://schemas.microsoft.com/office/drawing/2014/main" id="{2D7A7746-3E73-4A52-9D27-16338E4A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5644420"/>
            <a:ext cx="4656810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Reusable org context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for other teams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p8">
            <a:extLst xmlns:a="http://schemas.openxmlformats.org/drawingml/2006/main">
              <a:ext uri="{FF2B5EF4-FFF2-40B4-BE49-F238E27FC236}">
                <a16:creationId xmlns:a16="http://schemas.microsoft.com/office/drawing/2014/main" id="{B40211B0-D296-4531-98A6-2B1E8B81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6414040"/>
            <a:ext cx="497329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Agent authoring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behind a review gate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8">
            <a:extLst xmlns:a="http://schemas.openxmlformats.org/drawingml/2006/main">
              <a:ext uri="{FF2B5EF4-FFF2-40B4-BE49-F238E27FC236}">
                <a16:creationId xmlns:a16="http://schemas.microsoft.com/office/drawing/2014/main" id="{B0FB9D8E-49CD-453A-9F86-0033FE4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250" y="6875050"/>
            <a:ext cx="4656810" cy="9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Sans"/>
              <a:buNone/>
            </a:pP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Lifecycle agents</a:t>
            </a:r>
            <a:r>
              <a:rPr sz="1800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— </a:t>
            </a:r>
            <a:r>
              <a:rPr sz="1800" b="0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for mobility, promotion, manager changes, leave returns, and offboarding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1" name="Google Shape;341;p8">
            <a:extLst xmlns:a="http://schemas.openxmlformats.org/drawingml/2006/main">
              <a:ext uri="{FF2B5EF4-FFF2-40B4-BE49-F238E27FC236}">
                <a16:creationId xmlns:a16="http://schemas.microsoft.com/office/drawing/2014/main" id="{F64F8D33-CA3D-4EB1-8ED9-65C3CC14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18364"/>
            <a:ext cx="1638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>
            <a:extLst xmlns:a="http://schemas.openxmlformats.org/drawingml/2006/main">
              <a:ext uri="{FF2B5EF4-FFF2-40B4-BE49-F238E27FC236}">
                <a16:creationId xmlns:a16="http://schemas.microsoft.com/office/drawing/2014/main" id="{86B34684-BAFD-4334-B37E-7E01C7C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37439"/>
            <a:ext cx="8241030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Domain teams own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tools, data, and surfaces, exposed as declared capabilities.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The platform does not fork their products.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3" name="Google Shape;343;p8">
            <a:extLst xmlns:a="http://schemas.openxmlformats.org/drawingml/2006/main">
              <a:ext uri="{FF2B5EF4-FFF2-40B4-BE49-F238E27FC236}">
                <a16:creationId xmlns:a16="http://schemas.microsoft.com/office/drawing/2014/main" id="{0016AD65-EC98-43BD-A031-E27690FB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037439"/>
            <a:ext cx="8241030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AI Platform owns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reasoning, orchestration,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guardrails, and evaluation.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Domain teams ship faster; the platform gets primitives validated in production.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440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Google Shape;349;p9">
            <a:extLst xmlns:a="http://schemas.openxmlformats.org/drawingml/2006/main">
              <a:ext uri="{FF2B5EF4-FFF2-40B4-BE49-F238E27FC236}">
                <a16:creationId xmlns:a16="http://schemas.microsoft.com/office/drawing/2014/main" id="{C1E0285D-3691-41EB-9371-744AD316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21122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How we'll know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Google Shape;350;p9">
            <a:extLst xmlns:a="http://schemas.openxmlformats.org/drawingml/2006/main">
              <a:ext uri="{FF2B5EF4-FFF2-40B4-BE49-F238E27FC236}">
                <a16:creationId xmlns:a16="http://schemas.microsoft.com/office/drawing/2014/main" id="{839641AA-611E-480F-85AF-CCB805B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08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" name="Google Shape;351;p9">
            <a:extLst xmlns:a="http://schemas.openxmlformats.org/drawingml/2006/main">
              <a:ext uri="{FF2B5EF4-FFF2-40B4-BE49-F238E27FC236}">
                <a16:creationId xmlns:a16="http://schemas.microsoft.com/office/drawing/2014/main" id="{13AEDAF6-2154-428E-8F0E-B2CD5F6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9675"/>
            <a:ext cx="15304770" cy="117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298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3900"/>
              <a:buFont typeface="Sora"/>
              <a:buNone/>
            </a:pPr>
            <a:r>
              <a:rPr sz="39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V1 measures whether actions happen on time. V2 tests whether that shortens time to readiness.</a:t>
            </a:r>
            <a:endParaRPr sz="3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2" name="Google Shape;352;p9">
            <a:extLst xmlns:a="http://schemas.openxmlformats.org/drawingml/2006/main">
              <a:ext uri="{FF2B5EF4-FFF2-40B4-BE49-F238E27FC236}">
                <a16:creationId xmlns:a16="http://schemas.microsoft.com/office/drawing/2014/main" id="{5822784C-6DFB-46AC-ACF6-73FEA7C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1705"/>
            <a:ext cx="615367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>
            <a:extLst xmlns:a="http://schemas.openxmlformats.org/drawingml/2006/main">
              <a:ext uri="{FF2B5EF4-FFF2-40B4-BE49-F238E27FC236}">
                <a16:creationId xmlns:a16="http://schemas.microsoft.com/office/drawing/2014/main" id="{87422542-E626-4E0A-95C3-6112AAD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3155"/>
            <a:ext cx="6769038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North star · V2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9">
            <a:extLst xmlns:a="http://schemas.openxmlformats.org/drawingml/2006/main">
              <a:ext uri="{FF2B5EF4-FFF2-40B4-BE49-F238E27FC236}">
                <a16:creationId xmlns:a16="http://schemas.microsoft.com/office/drawing/2014/main" id="{67ED8A34-2E88-4FFF-B7EA-6A7DB07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6486"/>
            <a:ext cx="6338316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02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4945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700"/>
              <a:buFont typeface="Sora"/>
              <a:buNone/>
            </a:pPr>
            <a:r>
              <a:rPr sz="27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Time to manager-confirmed
readiness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Google Shape;355;p9">
            <a:extLst xmlns:a="http://schemas.openxmlformats.org/drawingml/2006/main">
              <a:ext uri="{FF2B5EF4-FFF2-40B4-BE49-F238E27FC236}">
                <a16:creationId xmlns:a16="http://schemas.microsoft.com/office/drawing/2014/main" id="{A89F6445-0E4C-4662-BFD4-566DA27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3760"/>
            <a:ext cx="6338281" cy="998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Days from the start date until required role milestones are complete and the manager confirms the new hire can work independently. Report by role and cohort.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6" name="Google Shape;356;p9">
            <a:extLst xmlns:a="http://schemas.openxmlformats.org/drawingml/2006/main">
              <a:ext uri="{FF2B5EF4-FFF2-40B4-BE49-F238E27FC236}">
                <a16:creationId xmlns:a16="http://schemas.microsoft.com/office/drawing/2014/main" id="{23B0C9B6-0E95-420E-8880-EEDF223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039"/>
            <a:ext cx="6338281" cy="13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79805"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V1 proxy
</a:t>
            </a:r>
            <a:r>
              <a:rPr sz="2400" b="1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On-time action rate
</a:t>
            </a:r>
            <a:r>
              <a:rPr sz="2400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Share of expected onboarding actions completed by their deadline. Track alongside median blocker resolution time.</a:t>
            </a:r>
          </a:p>
        </p:txBody>
      </p:sp>
      <p:sp>
        <p:nvSpPr>
          <p:cNvPr id="357" name="Google Shape;357;p9">
            <a:extLst xmlns:a="http://schemas.openxmlformats.org/drawingml/2006/main">
              <a:ext uri="{FF2B5EF4-FFF2-40B4-BE49-F238E27FC236}">
                <a16:creationId xmlns:a16="http://schemas.microsoft.com/office/drawing/2014/main" id="{60A63279-BCE7-48DB-896B-C6159CC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71" y="2691705"/>
            <a:ext cx="47336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>
            <a:extLst xmlns:a="http://schemas.openxmlformats.org/drawingml/2006/main">
              <a:ext uri="{FF2B5EF4-FFF2-40B4-BE49-F238E27FC236}">
                <a16:creationId xmlns:a16="http://schemas.microsoft.com/office/drawing/2014/main" id="{A8E28EC9-7831-4848-B1D4-06607BD8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71" y="2853630"/>
            <a:ext cx="5206990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Drivers · weekly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Google Shape;359;p9">
            <a:extLst xmlns:a="http://schemas.openxmlformats.org/drawingml/2006/main">
              <a:ext uri="{FF2B5EF4-FFF2-40B4-BE49-F238E27FC236}">
                <a16:creationId xmlns:a16="http://schemas.microsoft.com/office/drawing/2014/main" id="{7C928058-3B4A-478A-ACE8-0BE5CED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71" y="3306961"/>
            <a:ext cx="4875636" cy="194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Median blocker resolution time · Blockers resolved without new-hire follow-up · On-time manager actions · Buddy cadence maintained · Plans edited after the agent’s proposal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Google Shape;360;p9">
            <a:extLst xmlns:a="http://schemas.openxmlformats.org/drawingml/2006/main">
              <a:ext uri="{FF2B5EF4-FFF2-40B4-BE49-F238E27FC236}">
                <a16:creationId xmlns:a16="http://schemas.microsoft.com/office/drawing/2014/main" id="{7701C929-FFA9-484E-BAAC-2721479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2691705"/>
            <a:ext cx="47337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>
            <a:extLst xmlns:a="http://schemas.openxmlformats.org/drawingml/2006/main">
              <a:ext uri="{FF2B5EF4-FFF2-40B4-BE49-F238E27FC236}">
                <a16:creationId xmlns:a16="http://schemas.microsoft.com/office/drawing/2014/main" id="{649BE79D-44A3-4472-89EB-0665B84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2853630"/>
            <a:ext cx="5207072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Buyer · People Ops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Google Shape;362;p9">
            <a:extLst xmlns:a="http://schemas.openxmlformats.org/drawingml/2006/main">
              <a:ext uri="{FF2B5EF4-FFF2-40B4-BE49-F238E27FC236}">
                <a16:creationId xmlns:a16="http://schemas.microsoft.com/office/drawing/2014/main" id="{14A4CCC9-0FB9-499B-9CA0-773D592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3306961"/>
            <a:ext cx="4875713" cy="131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Actions completed without People Ops intervention · Exceptions per People Ops FTE · Onboarding stage-slip rate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9">
            <a:extLst xmlns:a="http://schemas.openxmlformats.org/drawingml/2006/main">
              <a:ext uri="{FF2B5EF4-FFF2-40B4-BE49-F238E27FC236}">
                <a16:creationId xmlns:a16="http://schemas.microsoft.com/office/drawing/2014/main" id="{F2C0A4DC-5052-4AA2-B258-9B4A42E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4769834"/>
            <a:ext cx="47337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>
            <a:extLst xmlns:a="http://schemas.openxmlformats.org/drawingml/2006/main">
              <a:ext uri="{FF2B5EF4-FFF2-40B4-BE49-F238E27FC236}">
                <a16:creationId xmlns:a16="http://schemas.microsoft.com/office/drawing/2014/main" id="{4A3A28C2-5211-45AE-A5A1-8ADCA43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4931759"/>
            <a:ext cx="5207072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Guardrails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9">
            <a:extLst xmlns:a="http://schemas.openxmlformats.org/drawingml/2006/main">
              <a:ext uri="{FF2B5EF4-FFF2-40B4-BE49-F238E27FC236}">
                <a16:creationId xmlns:a16="http://schemas.microsoft.com/office/drawing/2014/main" id="{14A67D56-11D9-4B56-B4EE-1DE2D5C3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5385054"/>
            <a:ext cx="4875713" cy="131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Actions reversed by admins · Agent disable rate · Messages per hire · Mute rate · Misrouting rate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9">
            <a:extLst xmlns:a="http://schemas.openxmlformats.org/drawingml/2006/main">
              <a:ext uri="{FF2B5EF4-FFF2-40B4-BE49-F238E27FC236}">
                <a16:creationId xmlns:a16="http://schemas.microsoft.com/office/drawing/2014/main" id="{8437F4B1-A140-4346-93CA-D98ED46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85795"/>
            <a:ext cx="8001000" cy="1891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>
            <a:extLst xmlns:a="http://schemas.openxmlformats.org/drawingml/2006/main">
              <a:ext uri="{FF2B5EF4-FFF2-40B4-BE49-F238E27FC236}">
                <a16:creationId xmlns:a16="http://schemas.microsoft.com/office/drawing/2014/main" id="{F6EA623D-C19D-4254-995F-B9F9CBAC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33445"/>
            <a:ext cx="8172450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Constraint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9">
            <a:extLst xmlns:a="http://schemas.openxmlformats.org/drawingml/2006/main">
              <a:ext uri="{FF2B5EF4-FFF2-40B4-BE49-F238E27FC236}">
                <a16:creationId xmlns:a16="http://schemas.microsoft.com/office/drawing/2014/main" id="{86865F95-B744-42F4-B20C-89C6D31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39150"/>
            <a:ext cx="7554048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Bob does not observe job performance directly. Readiness is based on role-specific milestones and the manager’s decision—not surveillance.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9">
            <a:extLst xmlns:a="http://schemas.openxmlformats.org/drawingml/2006/main">
              <a:ext uri="{FF2B5EF4-FFF2-40B4-BE49-F238E27FC236}">
                <a16:creationId xmlns:a16="http://schemas.microsoft.com/office/drawing/2014/main" id="{6A6B7FA8-BC0A-4481-B28B-EB8145E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85795"/>
            <a:ext cx="8001000" cy="1891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>
            <a:extLst xmlns:a="http://schemas.openxmlformats.org/drawingml/2006/main">
              <a:ext uri="{FF2B5EF4-FFF2-40B4-BE49-F238E27FC236}">
                <a16:creationId xmlns:a16="http://schemas.microsoft.com/office/drawing/2014/main" id="{273AF997-E516-4026-84F2-0093CBF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033445"/>
            <a:ext cx="8172450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387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Proof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Google Shape;371;p9">
            <a:extLst xmlns:a="http://schemas.openxmlformats.org/drawingml/2006/main">
              <a:ext uri="{FF2B5EF4-FFF2-40B4-BE49-F238E27FC236}">
                <a16:creationId xmlns:a16="http://schemas.microsoft.com/office/drawing/2014/main" id="{B6A345A8-FC53-4C54-9B91-3A1EFDCB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439150"/>
            <a:ext cx="7325948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Within-customer holdout: compare similar teams with and without the agent inside the same company.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6020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7" name="Google Shape;377;p10">
            <a:extLst xmlns:a="http://schemas.openxmlformats.org/drawingml/2006/main">
              <a:ext uri="{FF2B5EF4-FFF2-40B4-BE49-F238E27FC236}">
                <a16:creationId xmlns:a16="http://schemas.microsoft.com/office/drawing/2014/main" id="{4DE9E405-6C0E-4F59-A7D2-7A735E91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"/>
            <a:ext cx="52806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Assumptions and how we move forward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Google Shape;378;p10">
            <a:extLst xmlns:a="http://schemas.openxmlformats.org/drawingml/2006/main">
              <a:ext uri="{FF2B5EF4-FFF2-40B4-BE49-F238E27FC236}">
                <a16:creationId xmlns:a16="http://schemas.microsoft.com/office/drawing/2014/main" id="{59CE238A-FA62-4518-834F-DE58C3EA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35" y="685800"/>
            <a:ext cx="10363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6B6B85"/>
                </a:solidFill>
                <a:latin typeface="IBM Plex Mono"/>
                <a:ea typeface="IBM Plex Mono"/>
                <a:cs typeface="IBM Plex Mono"/>
              </a:rPr>
              <a:t>09 / 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9" name="Google Shape;379;p10">
            <a:extLst xmlns:a="http://schemas.openxmlformats.org/drawingml/2006/main">
              <a:ext uri="{FF2B5EF4-FFF2-40B4-BE49-F238E27FC236}">
                <a16:creationId xmlns:a16="http://schemas.microsoft.com/office/drawing/2014/main" id="{28773E26-7740-4252-844F-16119F8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71575"/>
            <a:ext cx="16344900" cy="54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207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3450"/>
              <a:buFont typeface="Sora"/>
              <a:buNone/>
            </a:pPr>
            <a:r>
              <a:rPr sz="345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Three assumptions decide the bet. Test them before scaling.</a:t>
            </a:r>
            <a:endParaRPr sz="3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0" name="Google Shape;380;p10">
            <a:extLst xmlns:a="http://schemas.openxmlformats.org/drawingml/2006/main">
              <a:ext uri="{FF2B5EF4-FFF2-40B4-BE49-F238E27FC236}">
                <a16:creationId xmlns:a16="http://schemas.microsoft.com/office/drawing/2014/main" id="{F45049F1-BFB4-4C73-8F5C-A26C788D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5978"/>
            <a:ext cx="880526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>
            <a:extLst xmlns:a="http://schemas.openxmlformats.org/drawingml/2006/main">
              <a:ext uri="{FF2B5EF4-FFF2-40B4-BE49-F238E27FC236}">
                <a16:creationId xmlns:a16="http://schemas.microsoft.com/office/drawing/2014/main" id="{79E16675-FF79-414B-A6CE-D5D2721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3083"/>
            <a:ext cx="9069425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16163F"/>
                </a:solidFill>
                <a:latin typeface="IBM Plex Mono"/>
                <a:ea typeface="IBM Plex Mono"/>
                <a:cs typeface="IBM Plex Mono"/>
              </a:rPr>
              <a:t>Assumption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2" name="Google Shape;382;p10">
            <a:extLst xmlns:a="http://schemas.openxmlformats.org/drawingml/2006/main">
              <a:ext uri="{FF2B5EF4-FFF2-40B4-BE49-F238E27FC236}">
                <a16:creationId xmlns:a16="http://schemas.microsoft.com/office/drawing/2014/main" id="{216A02A6-58D2-49D1-A42C-264EEC9E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2345978"/>
            <a:ext cx="704433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>
            <a:extLst xmlns:a="http://schemas.openxmlformats.org/drawingml/2006/main">
              <a:ext uri="{FF2B5EF4-FFF2-40B4-BE49-F238E27FC236}">
                <a16:creationId xmlns:a16="http://schemas.microsoft.com/office/drawing/2014/main" id="{0494D474-6F9C-4DE7-824B-0838AB9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1923083"/>
            <a:ext cx="7255663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What we’d do instead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4" name="Google Shape;384;p10">
            <a:extLst xmlns:a="http://schemas.openxmlformats.org/drawingml/2006/main">
              <a:ext uri="{FF2B5EF4-FFF2-40B4-BE49-F238E27FC236}">
                <a16:creationId xmlns:a16="http://schemas.microsoft.com/office/drawing/2014/main" id="{36575759-464A-48CA-A925-C7318CE3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3280"/>
            <a:ext cx="880526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>
            <a:extLst xmlns:a="http://schemas.openxmlformats.org/drawingml/2006/main">
              <a:ext uri="{FF2B5EF4-FFF2-40B4-BE49-F238E27FC236}">
                <a16:creationId xmlns:a16="http://schemas.microsoft.com/office/drawing/2014/main" id="{4236D641-4BB1-43E7-AF44-6BBE6D65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0753"/>
            <a:ext cx="9069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75"/>
              <a:buFont typeface="IBM Plex Sans"/>
              <a:buNone/>
            </a:pPr>
            <a:r>
              <a:rPr sz="1875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Missed actions are a bigger readiness bottleneck than unanswered questions.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Google Shape;386;p10">
            <a:extLst xmlns:a="http://schemas.openxmlformats.org/drawingml/2006/main">
              <a:ext uri="{FF2B5EF4-FFF2-40B4-BE49-F238E27FC236}">
                <a16:creationId xmlns:a16="http://schemas.microsoft.com/office/drawing/2014/main" id="{1363BDD4-583B-4673-9F7E-4B829A2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0840"/>
            <a:ext cx="90694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7" name="Google Shape;387;p10">
            <a:extLst xmlns:a="http://schemas.openxmlformats.org/drawingml/2006/main">
              <a:ext uri="{FF2B5EF4-FFF2-40B4-BE49-F238E27FC236}">
                <a16:creationId xmlns:a16="http://schemas.microsoft.com/office/drawing/2014/main" id="{832B9036-1545-44BA-B016-FE10566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3863280"/>
            <a:ext cx="704433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>
            <a:extLst xmlns:a="http://schemas.openxmlformats.org/drawingml/2006/main">
              <a:ext uri="{FF2B5EF4-FFF2-40B4-BE49-F238E27FC236}">
                <a16:creationId xmlns:a16="http://schemas.microsoft.com/office/drawing/2014/main" id="{F5CAE0D2-14A4-487F-9859-A0EB9E0D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2450753"/>
            <a:ext cx="7255663" cy="135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Prioritize cited onboarding Q&amp;A in V1.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9" name="Google Shape;389;p10">
            <a:extLst xmlns:a="http://schemas.openxmlformats.org/drawingml/2006/main">
              <a:ext uri="{FF2B5EF4-FFF2-40B4-BE49-F238E27FC236}">
                <a16:creationId xmlns:a16="http://schemas.microsoft.com/office/drawing/2014/main" id="{4B5D8BA8-5311-4100-9FA5-F4BF83D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1988"/>
            <a:ext cx="880526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>
            <a:extLst xmlns:a="http://schemas.openxmlformats.org/drawingml/2006/main">
              <a:ext uri="{FF2B5EF4-FFF2-40B4-BE49-F238E27FC236}">
                <a16:creationId xmlns:a16="http://schemas.microsoft.com/office/drawing/2014/main" id="{E21F5F1E-301A-4F7A-B324-2E133431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8055"/>
            <a:ext cx="9069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75"/>
              <a:buFont typeface="IBM Plex Sans"/>
              <a:buNone/>
            </a:pPr>
            <a:r>
              <a:rPr sz="1875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Customers will allow the agent to act—with clear controls and an audit trail.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Google Shape;391;p10">
            <a:extLst xmlns:a="http://schemas.openxmlformats.org/drawingml/2006/main">
              <a:ext uri="{FF2B5EF4-FFF2-40B4-BE49-F238E27FC236}">
                <a16:creationId xmlns:a16="http://schemas.microsoft.com/office/drawing/2014/main" id="{E21306AD-7EF9-425C-9F7E-37EC2A7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8143"/>
            <a:ext cx="9685794" cy="34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Google Shape;392;p10">
            <a:extLst xmlns:a="http://schemas.openxmlformats.org/drawingml/2006/main">
              <a:ext uri="{FF2B5EF4-FFF2-40B4-BE49-F238E27FC236}">
                <a16:creationId xmlns:a16="http://schemas.microsoft.com/office/drawing/2014/main" id="{8656FAEE-7C5B-45C7-A6FA-176EAD3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5071988"/>
            <a:ext cx="704433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>
            <a:extLst xmlns:a="http://schemas.openxmlformats.org/drawingml/2006/main">
              <a:ext uri="{FF2B5EF4-FFF2-40B4-BE49-F238E27FC236}">
                <a16:creationId xmlns:a16="http://schemas.microsoft.com/office/drawing/2014/main" id="{68E9BAD5-A9ED-466D-809C-3943E18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3968055"/>
            <a:ext cx="7255663" cy="1046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Start with propose-and-approve. The product is narrower but still useful.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Google Shape;394;p10">
            <a:extLst xmlns:a="http://schemas.openxmlformats.org/drawingml/2006/main">
              <a:ext uri="{FF2B5EF4-FFF2-40B4-BE49-F238E27FC236}">
                <a16:creationId xmlns:a16="http://schemas.microsoft.com/office/drawing/2014/main" id="{D8FA13D3-0334-492E-A6C1-F760A8B0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6763"/>
            <a:ext cx="9069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875"/>
              <a:buFont typeface="IBM Plex Sans"/>
              <a:buNone/>
            </a:pPr>
            <a:r>
              <a:rPr sz="1875" b="1" i="0" u="none" cap="none">
                <a:solidFill>
                  <a:srgbClr val="16163F"/>
                </a:solidFill>
                <a:latin typeface="IBM Plex Sans"/>
                <a:ea typeface="IBM Plex Sans"/>
                <a:cs typeface="IBM Plex Sans"/>
              </a:rPr>
              <a:t>Resolving missed actions earlier improves readiness.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5" name="Google Shape;395;p10">
            <a:extLst xmlns:a="http://schemas.openxmlformats.org/drawingml/2006/main">
              <a:ext uri="{FF2B5EF4-FFF2-40B4-BE49-F238E27FC236}">
                <a16:creationId xmlns:a16="http://schemas.microsoft.com/office/drawing/2014/main" id="{C8C0A07E-8AAE-44B8-8E9F-20E0A64B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76851"/>
            <a:ext cx="9069425" cy="65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Google Shape;396;p10">
            <a:extLst xmlns:a="http://schemas.openxmlformats.org/drawingml/2006/main">
              <a:ext uri="{FF2B5EF4-FFF2-40B4-BE49-F238E27FC236}">
                <a16:creationId xmlns:a16="http://schemas.microsoft.com/office/drawing/2014/main" id="{3E9A233B-37FA-4500-96A2-8AFA026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67" y="5176763"/>
            <a:ext cx="7255663" cy="135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75"/>
              <a:buFont typeface="IBM Plex Sans"/>
              <a:buNone/>
            </a:pPr>
            <a:r>
              <a:rPr sz="1875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Shift the product toward readiness evidence and measurement.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10">
            <a:extLst xmlns:a="http://schemas.openxmlformats.org/drawingml/2006/main">
              <a:ext uri="{FF2B5EF4-FFF2-40B4-BE49-F238E27FC236}">
                <a16:creationId xmlns:a16="http://schemas.microsoft.com/office/drawing/2014/main" id="{8F4763B2-254D-4DB3-8E5C-EA3E4E4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22641"/>
            <a:ext cx="1802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How we test the bet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8" name="Google Shape;398;p10">
            <a:extLst xmlns:a="http://schemas.openxmlformats.org/drawingml/2006/main">
              <a:ext uri="{FF2B5EF4-FFF2-40B4-BE49-F238E27FC236}">
                <a16:creationId xmlns:a16="http://schemas.microsoft.com/office/drawing/2014/main" id="{00571234-8F64-4A21-8BB6-F49381E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70316"/>
            <a:ext cx="3895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>
            <a:extLst xmlns:a="http://schemas.openxmlformats.org/drawingml/2006/main">
              <a:ext uri="{FF2B5EF4-FFF2-40B4-BE49-F238E27FC236}">
                <a16:creationId xmlns:a16="http://schemas.microsoft.com/office/drawing/2014/main" id="{30F8DE50-6F85-4689-8144-D089204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13191"/>
            <a:ext cx="3505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01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10">
            <a:extLst xmlns:a="http://schemas.openxmlformats.org/drawingml/2006/main">
              <a:ext uri="{FF2B5EF4-FFF2-40B4-BE49-F238E27FC236}">
                <a16:creationId xmlns:a16="http://schemas.microsoft.com/office/drawing/2014/main" id="{A13B8017-A09B-4156-B7DC-516C5316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915" y="7313191"/>
            <a:ext cx="117351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~6 weeks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10">
            <a:extLst xmlns:a="http://schemas.openxmlformats.org/drawingml/2006/main">
              <a:ext uri="{FF2B5EF4-FFF2-40B4-BE49-F238E27FC236}">
                <a16:creationId xmlns:a16="http://schemas.microsoft.com/office/drawing/2014/main" id="{F733E773-3F67-48CD-AEC2-90E3027C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03716"/>
            <a:ext cx="4285298" cy="373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6914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400"/>
              <a:buFont typeface="Sora"/>
              <a:buNone/>
            </a:pPr>
            <a:r>
              <a:rPr sz="24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Discover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Google Shape;402;p10">
            <a:extLst xmlns:a="http://schemas.openxmlformats.org/drawingml/2006/main">
              <a:ext uri="{FF2B5EF4-FFF2-40B4-BE49-F238E27FC236}">
                <a16:creationId xmlns:a16="http://schemas.microsoft.com/office/drawing/2014/main" id="{40C7EA75-DE74-4F0F-BD18-2C60119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34201"/>
            <a:ext cx="4012597" cy="158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Recruit 5–10 design partners with active Bob onboarding programs. Baseline on-time action rate and blocker resolution time.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Google Shape;403;p10">
            <a:extLst xmlns:a="http://schemas.openxmlformats.org/drawingml/2006/main">
              <a:ext uri="{FF2B5EF4-FFF2-40B4-BE49-F238E27FC236}">
                <a16:creationId xmlns:a16="http://schemas.microsoft.com/office/drawing/2014/main" id="{FA98CF43-6BB1-4F4A-B9C8-37F8DF9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170316"/>
            <a:ext cx="389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16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>
            <a:extLst xmlns:a="http://schemas.openxmlformats.org/drawingml/2006/main">
              <a:ext uri="{FF2B5EF4-FFF2-40B4-BE49-F238E27FC236}">
                <a16:creationId xmlns:a16="http://schemas.microsoft.com/office/drawing/2014/main" id="{A374F036-00D0-4C6A-8CFA-413A0E88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322716"/>
            <a:ext cx="3505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02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10">
            <a:extLst xmlns:a="http://schemas.openxmlformats.org/drawingml/2006/main">
              <a:ext uri="{FF2B5EF4-FFF2-40B4-BE49-F238E27FC236}">
                <a16:creationId xmlns:a16="http://schemas.microsoft.com/office/drawing/2014/main" id="{085AC548-C3C2-40BC-8A4F-21FEFC02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322716"/>
            <a:ext cx="15087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164F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EE164F"/>
                </a:solidFill>
                <a:latin typeface="IBM Plex Mono"/>
                <a:ea typeface="IBM Plex Mono"/>
                <a:cs typeface="IBM Plex Mono"/>
              </a:rPr>
              <a:t>~1 quarter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Google Shape;406;p10">
            <a:extLst xmlns:a="http://schemas.openxmlformats.org/drawingml/2006/main">
              <a:ext uri="{FF2B5EF4-FFF2-40B4-BE49-F238E27FC236}">
                <a16:creationId xmlns:a16="http://schemas.microsoft.com/office/drawing/2014/main" id="{EF6B1E6D-01C9-4AB4-96E5-2DD3372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713241"/>
            <a:ext cx="4285298" cy="373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6914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400"/>
              <a:buFont typeface="Sora"/>
              <a:buNone/>
            </a:pPr>
            <a:r>
              <a:rPr sz="24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Pilot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10">
            <a:extLst xmlns:a="http://schemas.openxmlformats.org/drawingml/2006/main">
              <a:ext uri="{FF2B5EF4-FFF2-40B4-BE49-F238E27FC236}">
                <a16:creationId xmlns:a16="http://schemas.microsoft.com/office/drawing/2014/main" id="{2F7C8EEF-B927-4B62-AC5E-5342675D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8143726"/>
            <a:ext cx="4012597" cy="158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Pilot with three customers from preboarding through day 14. Start with propose-and-approve; review blocker resolution, routing errors, and plan edits weekly.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" name="Google Shape;408;p10">
            <a:extLst xmlns:a="http://schemas.openxmlformats.org/drawingml/2006/main">
              <a:ext uri="{FF2B5EF4-FFF2-40B4-BE49-F238E27FC236}">
                <a16:creationId xmlns:a16="http://schemas.microsoft.com/office/drawing/2014/main" id="{7AE748DF-893A-41FF-B07F-260A9F88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170316"/>
            <a:ext cx="3895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>
            <a:extLst xmlns:a="http://schemas.openxmlformats.org/drawingml/2006/main">
              <a:ext uri="{FF2B5EF4-FFF2-40B4-BE49-F238E27FC236}">
                <a16:creationId xmlns:a16="http://schemas.microsoft.com/office/drawing/2014/main" id="{925E3225-6BCD-458D-9F7F-52740CA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313191"/>
            <a:ext cx="3505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03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Google Shape;410;p10">
            <a:extLst xmlns:a="http://schemas.openxmlformats.org/drawingml/2006/main">
              <a:ext uri="{FF2B5EF4-FFF2-40B4-BE49-F238E27FC236}">
                <a16:creationId xmlns:a16="http://schemas.microsoft.com/office/drawing/2014/main" id="{2200DDC2-436C-4D9E-8300-94EF2B8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620" y="7313191"/>
            <a:ext cx="135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2 cohorts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1" name="Google Shape;411;p10">
            <a:extLst xmlns:a="http://schemas.openxmlformats.org/drawingml/2006/main">
              <a:ext uri="{FF2B5EF4-FFF2-40B4-BE49-F238E27FC236}">
                <a16:creationId xmlns:a16="http://schemas.microsoft.com/office/drawing/2014/main" id="{FA712035-D193-47EE-B115-04E5F1F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703716"/>
            <a:ext cx="4285298" cy="373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6914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400"/>
              <a:buFont typeface="Sora"/>
              <a:buNone/>
            </a:pPr>
            <a:r>
              <a:rPr sz="24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Prove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2" name="Google Shape;412;p10">
            <a:extLst xmlns:a="http://schemas.openxmlformats.org/drawingml/2006/main">
              <a:ext uri="{FF2B5EF4-FFF2-40B4-BE49-F238E27FC236}">
                <a16:creationId xmlns:a16="http://schemas.microsoft.com/office/drawing/2014/main" id="{B1AD5649-ED35-4EBF-806A-F620268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8134201"/>
            <a:ext cx="4012597" cy="1581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Run a within-customer holdout. Continue only if actions happen on time and blockers clear faster—without more messages or misroutes.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3" name="Google Shape;413;p10">
            <a:extLst xmlns:a="http://schemas.openxmlformats.org/drawingml/2006/main">
              <a:ext uri="{FF2B5EF4-FFF2-40B4-BE49-F238E27FC236}">
                <a16:creationId xmlns:a16="http://schemas.microsoft.com/office/drawing/2014/main" id="{77CF6524-8915-4745-9F57-A808DEBF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170316"/>
            <a:ext cx="3895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>
            <a:extLst xmlns:a="http://schemas.openxmlformats.org/drawingml/2006/main">
              <a:ext uri="{FF2B5EF4-FFF2-40B4-BE49-F238E27FC236}">
                <a16:creationId xmlns:a16="http://schemas.microsoft.com/office/drawing/2014/main" id="{329C4C8B-7C2B-46CC-878B-16AE2E86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313191"/>
            <a:ext cx="35056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04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5" name="Google Shape;415;p10">
            <a:extLst xmlns:a="http://schemas.openxmlformats.org/drawingml/2006/main">
              <a:ext uri="{FF2B5EF4-FFF2-40B4-BE49-F238E27FC236}">
                <a16:creationId xmlns:a16="http://schemas.microsoft.com/office/drawing/2014/main" id="{B0379117-6AC0-430C-8AF3-3C0D592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6680" y="7313191"/>
            <a:ext cx="165970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A8AA3"/>
              </a:buClr>
              <a:buSzPts val="1800"/>
              <a:buFont typeface="IBM Plex Mono"/>
              <a:buNone/>
            </a:pPr>
            <a:r>
              <a:rPr sz="1800" b="0" i="0" u="none" cap="none">
                <a:solidFill>
                  <a:srgbClr val="8A8AA3"/>
                </a:solidFill>
                <a:latin typeface="IBM Plex Mono"/>
                <a:ea typeface="IBM Plex Mono"/>
                <a:cs typeface="IBM Plex Mono"/>
              </a:rPr>
              <a:t>after proof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Google Shape;416;p10">
            <a:extLst xmlns:a="http://schemas.openxmlformats.org/drawingml/2006/main">
              <a:ext uri="{FF2B5EF4-FFF2-40B4-BE49-F238E27FC236}">
                <a16:creationId xmlns:a16="http://schemas.microsoft.com/office/drawing/2014/main" id="{E15F1B48-39C6-43B5-8F90-241DEF4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703716"/>
            <a:ext cx="4285298" cy="373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6914"/>
              </a:lnSpc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400"/>
              <a:buFont typeface="Sora"/>
              <a:buNone/>
            </a:pPr>
            <a:r>
              <a:rPr sz="2400" b="0" i="0" u="none" cap="none">
                <a:solidFill>
                  <a:srgbClr val="16163F"/>
                </a:solidFill>
                <a:latin typeface="Sora"/>
                <a:ea typeface="Sora"/>
                <a:cs typeface="Sora"/>
              </a:rPr>
              <a:t>Expand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" name="Google Shape;417;p10">
            <a:extLst xmlns:a="http://schemas.openxmlformats.org/drawingml/2006/main">
              <a:ext uri="{FF2B5EF4-FFF2-40B4-BE49-F238E27FC236}">
                <a16:creationId xmlns:a16="http://schemas.microsoft.com/office/drawing/2014/main" id="{F340ECA0-378D-4112-A8D6-6A615C7C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8134201"/>
            <a:ext cx="4012597" cy="1581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800"/>
              <a:buFont typeface="IBM Plex Sans"/>
              <a:buNone/>
            </a:pPr>
            <a:r>
              <a:rPr sz="1800" b="0" i="0" u="none" cap="none">
                <a:solidFill>
                  <a:srgbClr val="3D3D5C"/>
                </a:solidFill>
                <a:latin typeface="IBM Plex Sans"/>
                <a:ea typeface="IBM Plex Sans"/>
                <a:cs typeface="IBM Plex Sans"/>
              </a:rPr>
              <a:t>Increase autonomy by customer, extend action-taking past day 14, then test readiness evidence against manager-confirmed milestones.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34294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2026-09-03T19:22:10.7730000Z</dcterms:created>
  <dcterms:modified xsi:type="dcterms:W3CDTF">2026-09-03T19:22:10.7730000Z</dcterms:modified>
</coreProperties>
</file>